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embeddedFontLst>
    <p:embeddedFont>
      <p:font typeface="Century Gothic"/>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7" roundtripDataSignature="AMtx7mizpwGMJ7ythp0KOwOeRK4fHTMv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enturyGothic-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enturyGothic-italic.fntdata"/><Relationship Id="rId12" Type="http://schemas.openxmlformats.org/officeDocument/2006/relationships/slide" Target="slides/slide7.xml"/><Relationship Id="rId34" Type="http://schemas.openxmlformats.org/officeDocument/2006/relationships/font" Target="fonts/CenturyGothic-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CenturyGothic-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38" name="Shape 38"/>
        <p:cNvGrpSpPr/>
        <p:nvPr/>
      </p:nvGrpSpPr>
      <p:grpSpPr>
        <a:xfrm>
          <a:off x="0" y="0"/>
          <a:ext cx="0" cy="0"/>
          <a:chOff x="0" y="0"/>
          <a:chExt cx="0" cy="0"/>
        </a:xfrm>
      </p:grpSpPr>
      <p:sp>
        <p:nvSpPr>
          <p:cNvPr id="39" name="Google Shape;39;p29"/>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9"/>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1" name="Google Shape;41;p2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9"/>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9"/>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45" name="Shape 45"/>
        <p:cNvGrpSpPr/>
        <p:nvPr/>
      </p:nvGrpSpPr>
      <p:grpSpPr>
        <a:xfrm>
          <a:off x="0" y="0"/>
          <a:ext cx="0" cy="0"/>
          <a:chOff x="0" y="0"/>
          <a:chExt cx="0" cy="0"/>
        </a:xfrm>
      </p:grpSpPr>
      <p:sp>
        <p:nvSpPr>
          <p:cNvPr id="46" name="Google Shape;46;p3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48" name="Google Shape;48;p3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0"/>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0"/>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52" name="Shape 52"/>
        <p:cNvGrpSpPr/>
        <p:nvPr/>
      </p:nvGrpSpPr>
      <p:grpSpPr>
        <a:xfrm>
          <a:off x="0" y="0"/>
          <a:ext cx="0" cy="0"/>
          <a:chOff x="0" y="0"/>
          <a:chExt cx="0" cy="0"/>
        </a:xfrm>
      </p:grpSpPr>
      <p:sp>
        <p:nvSpPr>
          <p:cNvPr id="53" name="Google Shape;53;p31"/>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1"/>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55" name="Google Shape;55;p3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1"/>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1"/>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59" name="Shape 59"/>
        <p:cNvGrpSpPr/>
        <p:nvPr/>
      </p:nvGrpSpPr>
      <p:grpSpPr>
        <a:xfrm>
          <a:off x="0" y="0"/>
          <a:ext cx="0" cy="0"/>
          <a:chOff x="0" y="0"/>
          <a:chExt cx="0" cy="0"/>
        </a:xfrm>
      </p:grpSpPr>
      <p:sp>
        <p:nvSpPr>
          <p:cNvPr id="60" name="Google Shape;60;p32"/>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2"/>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2" name="Google Shape;62;p32"/>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3" name="Google Shape;63;p3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67" name="Shape 67"/>
        <p:cNvGrpSpPr/>
        <p:nvPr/>
      </p:nvGrpSpPr>
      <p:grpSpPr>
        <a:xfrm>
          <a:off x="0" y="0"/>
          <a:ext cx="0" cy="0"/>
          <a:chOff x="0" y="0"/>
          <a:chExt cx="0" cy="0"/>
        </a:xfrm>
      </p:grpSpPr>
      <p:sp>
        <p:nvSpPr>
          <p:cNvPr id="68" name="Google Shape;68;p33"/>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3"/>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0" name="Google Shape;70;p33"/>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1" name="Google Shape;71;p33"/>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2" name="Google Shape;72;p33"/>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3" name="Google Shape;73;p3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3"/>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77" name="Shape 77"/>
        <p:cNvGrpSpPr/>
        <p:nvPr/>
      </p:nvGrpSpPr>
      <p:grpSpPr>
        <a:xfrm>
          <a:off x="0" y="0"/>
          <a:ext cx="0" cy="0"/>
          <a:chOff x="0" y="0"/>
          <a:chExt cx="0" cy="0"/>
        </a:xfrm>
      </p:grpSpPr>
      <p:sp>
        <p:nvSpPr>
          <p:cNvPr id="78" name="Google Shape;78;p3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83" name="Shape 83"/>
        <p:cNvGrpSpPr/>
        <p:nvPr/>
      </p:nvGrpSpPr>
      <p:grpSpPr>
        <a:xfrm>
          <a:off x="0" y="0"/>
          <a:ext cx="0" cy="0"/>
          <a:chOff x="0" y="0"/>
          <a:chExt cx="0" cy="0"/>
        </a:xfrm>
      </p:grpSpPr>
      <p:sp>
        <p:nvSpPr>
          <p:cNvPr id="84" name="Google Shape;84;p3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88" name="Shape 88"/>
        <p:cNvGrpSpPr/>
        <p:nvPr/>
      </p:nvGrpSpPr>
      <p:grpSpPr>
        <a:xfrm>
          <a:off x="0" y="0"/>
          <a:ext cx="0" cy="0"/>
          <a:chOff x="0" y="0"/>
          <a:chExt cx="0" cy="0"/>
        </a:xfrm>
      </p:grpSpPr>
      <p:sp>
        <p:nvSpPr>
          <p:cNvPr id="89" name="Google Shape;89;p36"/>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6"/>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1" name="Google Shape;91;p36"/>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2" name="Google Shape;92;p3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96" name="Shape 96"/>
        <p:cNvGrpSpPr/>
        <p:nvPr/>
      </p:nvGrpSpPr>
      <p:grpSpPr>
        <a:xfrm>
          <a:off x="0" y="0"/>
          <a:ext cx="0" cy="0"/>
          <a:chOff x="0" y="0"/>
          <a:chExt cx="0" cy="0"/>
        </a:xfrm>
      </p:grpSpPr>
      <p:sp>
        <p:nvSpPr>
          <p:cNvPr id="97" name="Google Shape;97;p37"/>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7"/>
          <p:cNvSpPr/>
          <p:nvPr>
            <p:ph idx="2" type="pic"/>
          </p:nvPr>
        </p:nvSpPr>
        <p:spPr>
          <a:xfrm>
            <a:off x="2589212" y="634965"/>
            <a:ext cx="8915400" cy="3854970"/>
          </a:xfrm>
          <a:prstGeom prst="rect">
            <a:avLst/>
          </a:prstGeom>
          <a:noFill/>
          <a:ln>
            <a:noFill/>
          </a:ln>
        </p:spPr>
      </p:sp>
      <p:sp>
        <p:nvSpPr>
          <p:cNvPr id="99" name="Google Shape;99;p37"/>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0" name="Google Shape;100;p3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7"/>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7"/>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légende">
  <p:cSld name="Titre et légende">
    <p:spTree>
      <p:nvGrpSpPr>
        <p:cNvPr id="104" name="Shape 104"/>
        <p:cNvGrpSpPr/>
        <p:nvPr/>
      </p:nvGrpSpPr>
      <p:grpSpPr>
        <a:xfrm>
          <a:off x="0" y="0"/>
          <a:ext cx="0" cy="0"/>
          <a:chOff x="0" y="0"/>
          <a:chExt cx="0" cy="0"/>
        </a:xfrm>
      </p:grpSpPr>
      <p:sp>
        <p:nvSpPr>
          <p:cNvPr id="105" name="Google Shape;105;p38"/>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38"/>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07" name="Google Shape;107;p3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8"/>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8"/>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avec légende">
  <p:cSld name="Citation avec légende">
    <p:spTree>
      <p:nvGrpSpPr>
        <p:cNvPr id="111" name="Shape 111"/>
        <p:cNvGrpSpPr/>
        <p:nvPr/>
      </p:nvGrpSpPr>
      <p:grpSpPr>
        <a:xfrm>
          <a:off x="0" y="0"/>
          <a:ext cx="0" cy="0"/>
          <a:chOff x="0" y="0"/>
          <a:chExt cx="0" cy="0"/>
        </a:xfrm>
      </p:grpSpPr>
      <p:sp>
        <p:nvSpPr>
          <p:cNvPr id="112" name="Google Shape;112;p39"/>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9"/>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4" name="Google Shape;114;p39"/>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5" name="Google Shape;115;p3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9"/>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9"/>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19" name="Google Shape;119;p39"/>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chemeClr val="accent1"/>
                </a:solidFill>
                <a:latin typeface="Arial"/>
                <a:ea typeface="Arial"/>
                <a:cs typeface="Arial"/>
                <a:sym typeface="Arial"/>
              </a:rPr>
              <a:t>“</a:t>
            </a:r>
            <a:endParaRPr/>
          </a:p>
        </p:txBody>
      </p:sp>
      <p:sp>
        <p:nvSpPr>
          <p:cNvPr id="120" name="Google Shape;120;p39"/>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e nom">
  <p:cSld name="Carte nom">
    <p:spTree>
      <p:nvGrpSpPr>
        <p:cNvPr id="121" name="Shape 121"/>
        <p:cNvGrpSpPr/>
        <p:nvPr/>
      </p:nvGrpSpPr>
      <p:grpSpPr>
        <a:xfrm>
          <a:off x="0" y="0"/>
          <a:ext cx="0" cy="0"/>
          <a:chOff x="0" y="0"/>
          <a:chExt cx="0" cy="0"/>
        </a:xfrm>
      </p:grpSpPr>
      <p:sp>
        <p:nvSpPr>
          <p:cNvPr id="122" name="Google Shape;122;p40"/>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40"/>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4" name="Google Shape;124;p4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4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40"/>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0"/>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e nom citation">
  <p:cSld name="Carte nom citation">
    <p:spTree>
      <p:nvGrpSpPr>
        <p:cNvPr id="128" name="Shape 128"/>
        <p:cNvGrpSpPr/>
        <p:nvPr/>
      </p:nvGrpSpPr>
      <p:grpSpPr>
        <a:xfrm>
          <a:off x="0" y="0"/>
          <a:ext cx="0" cy="0"/>
          <a:chOff x="0" y="0"/>
          <a:chExt cx="0" cy="0"/>
        </a:xfrm>
      </p:grpSpPr>
      <p:sp>
        <p:nvSpPr>
          <p:cNvPr id="129" name="Google Shape;129;p41"/>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41"/>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1" name="Google Shape;131;p41"/>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2" name="Google Shape;132;p4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4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41"/>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1"/>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36" name="Google Shape;136;p41"/>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chemeClr val="accent1"/>
                </a:solidFill>
                <a:latin typeface="Arial"/>
                <a:ea typeface="Arial"/>
                <a:cs typeface="Arial"/>
                <a:sym typeface="Arial"/>
              </a:rPr>
              <a:t>“</a:t>
            </a:r>
            <a:endParaRPr/>
          </a:p>
        </p:txBody>
      </p:sp>
      <p:sp>
        <p:nvSpPr>
          <p:cNvPr id="137" name="Google Shape;137;p41"/>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rai ou faux">
  <p:cSld name="Vrai ou faux">
    <p:spTree>
      <p:nvGrpSpPr>
        <p:cNvPr id="138" name="Shape 138"/>
        <p:cNvGrpSpPr/>
        <p:nvPr/>
      </p:nvGrpSpPr>
      <p:grpSpPr>
        <a:xfrm>
          <a:off x="0" y="0"/>
          <a:ext cx="0" cy="0"/>
          <a:chOff x="0" y="0"/>
          <a:chExt cx="0" cy="0"/>
        </a:xfrm>
      </p:grpSpPr>
      <p:sp>
        <p:nvSpPr>
          <p:cNvPr id="139" name="Google Shape;139;p42"/>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42"/>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42"/>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4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4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42"/>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2"/>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146" name="Shape 146"/>
        <p:cNvGrpSpPr/>
        <p:nvPr/>
      </p:nvGrpSpPr>
      <p:grpSpPr>
        <a:xfrm>
          <a:off x="0" y="0"/>
          <a:ext cx="0" cy="0"/>
          <a:chOff x="0" y="0"/>
          <a:chExt cx="0" cy="0"/>
        </a:xfrm>
      </p:grpSpPr>
      <p:sp>
        <p:nvSpPr>
          <p:cNvPr id="147" name="Google Shape;147;p43"/>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43"/>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9" name="Google Shape;149;p4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4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43"/>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153" name="Shape 153"/>
        <p:cNvGrpSpPr/>
        <p:nvPr/>
      </p:nvGrpSpPr>
      <p:grpSpPr>
        <a:xfrm>
          <a:off x="0" y="0"/>
          <a:ext cx="0" cy="0"/>
          <a:chOff x="0" y="0"/>
          <a:chExt cx="0" cy="0"/>
        </a:xfrm>
      </p:grpSpPr>
      <p:sp>
        <p:nvSpPr>
          <p:cNvPr id="154" name="Google Shape;154;p44"/>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44"/>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6" name="Google Shape;156;p4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4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4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l="0%" r="100%" t="0%"/>
          </a:path>
          <a:tileRect b="0%" l="-100%" r="0%" t="-100%"/>
        </a:gradFill>
      </p:bgPr>
    </p:bg>
    <p:spTree>
      <p:nvGrpSpPr>
        <p:cNvPr id="5" name="Shape 5"/>
        <p:cNvGrpSpPr/>
        <p:nvPr/>
      </p:nvGrpSpPr>
      <p:grpSpPr>
        <a:xfrm>
          <a:off x="0" y="0"/>
          <a:ext cx="0" cy="0"/>
          <a:chOff x="0" y="0"/>
          <a:chExt cx="0" cy="0"/>
        </a:xfrm>
      </p:grpSpPr>
      <p:grpSp>
        <p:nvGrpSpPr>
          <p:cNvPr id="6" name="Google Shape;6;p28"/>
          <p:cNvGrpSpPr/>
          <p:nvPr/>
        </p:nvGrpSpPr>
        <p:grpSpPr>
          <a:xfrm>
            <a:off x="1" y="228600"/>
            <a:ext cx="2851516" cy="6638628"/>
            <a:chOff x="2487613" y="285750"/>
            <a:chExt cx="2428875" cy="5654676"/>
          </a:xfrm>
        </p:grpSpPr>
        <p:sp>
          <p:nvSpPr>
            <p:cNvPr id="7" name="Google Shape;7;p28"/>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28"/>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28"/>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8"/>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8"/>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8"/>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8"/>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8"/>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8"/>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8"/>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8"/>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8"/>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28"/>
          <p:cNvGrpSpPr/>
          <p:nvPr/>
        </p:nvGrpSpPr>
        <p:grpSpPr>
          <a:xfrm>
            <a:off x="27221" y="-786"/>
            <a:ext cx="2356674" cy="6854039"/>
            <a:chOff x="6627813" y="194833"/>
            <a:chExt cx="1952625" cy="5678918"/>
          </a:xfrm>
        </p:grpSpPr>
        <p:sp>
          <p:nvSpPr>
            <p:cNvPr id="20" name="Google Shape;20;p28"/>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8"/>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8"/>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8"/>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8"/>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8"/>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8"/>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8"/>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8"/>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8"/>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8"/>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8"/>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28"/>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8"/>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4" name="Google Shape;34;p28"/>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5" name="Google Shape;35;p2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2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2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www.passeportsante.net/fr/Maux/Problemes/Fiche.aspx?doc=vertig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2.png"/><Relationship Id="rId6" Type="http://schemas.openxmlformats.org/officeDocument/2006/relationships/image" Target="../media/image16.png"/><Relationship Id="rId7"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
          <p:cNvSpPr txBox="1"/>
          <p:nvPr>
            <p:ph idx="1" type="subTitle"/>
          </p:nvPr>
        </p:nvSpPr>
        <p:spPr>
          <a:xfrm>
            <a:off x="3973877" y="6361611"/>
            <a:ext cx="4673736" cy="49638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b="1" lang="fr-FR">
                <a:solidFill>
                  <a:schemeClr val="dk2"/>
                </a:solidFill>
              </a:rPr>
              <a:t>Année de formation  : 2017/2018</a:t>
            </a:r>
            <a:endParaRPr b="1">
              <a:solidFill>
                <a:schemeClr val="dk2"/>
              </a:solidFill>
            </a:endParaRPr>
          </a:p>
        </p:txBody>
      </p:sp>
      <p:sp>
        <p:nvSpPr>
          <p:cNvPr id="165" name="Google Shape;165;p1"/>
          <p:cNvSpPr/>
          <p:nvPr/>
        </p:nvSpPr>
        <p:spPr>
          <a:xfrm>
            <a:off x="159332" y="1689854"/>
            <a:ext cx="389015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fr-FR" sz="1800" u="none" cap="none" strike="noStrike">
                <a:solidFill>
                  <a:schemeClr val="dk2"/>
                </a:solidFill>
                <a:latin typeface="Century Gothic"/>
                <a:ea typeface="Century Gothic"/>
                <a:cs typeface="Century Gothic"/>
                <a:sym typeface="Century Gothic"/>
              </a:rPr>
              <a:t>Filière :     génie électrique</a:t>
            </a:r>
            <a:endParaRPr/>
          </a:p>
          <a:p>
            <a:pPr indent="0" lvl="0" marL="0" marR="0" rtl="0" algn="l">
              <a:spcBef>
                <a:spcPts val="0"/>
              </a:spcBef>
              <a:spcAft>
                <a:spcPts val="0"/>
              </a:spcAft>
              <a:buNone/>
            </a:pPr>
            <a:r>
              <a:rPr b="1" lang="fr-FR" sz="1800">
                <a:solidFill>
                  <a:schemeClr val="dk2"/>
                </a:solidFill>
                <a:latin typeface="Century Gothic"/>
                <a:ea typeface="Century Gothic"/>
                <a:cs typeface="Century Gothic"/>
                <a:sym typeface="Century Gothic"/>
              </a:rPr>
              <a:t> </a:t>
            </a:r>
            <a:r>
              <a:rPr b="1" lang="fr-FR" sz="1800">
                <a:solidFill>
                  <a:schemeClr val="accent2"/>
                </a:solidFill>
                <a:latin typeface="Century Gothic"/>
                <a:ea typeface="Century Gothic"/>
                <a:cs typeface="Century Gothic"/>
                <a:sym typeface="Century Gothic"/>
              </a:rPr>
              <a:t> </a:t>
            </a:r>
            <a:endParaRPr/>
          </a:p>
        </p:txBody>
      </p:sp>
      <p:pic>
        <p:nvPicPr>
          <p:cNvPr descr="trac2" id="166" name="Google Shape;166;p1"/>
          <p:cNvPicPr preferRelativeResize="0"/>
          <p:nvPr/>
        </p:nvPicPr>
        <p:blipFill rotWithShape="1">
          <a:blip r:embed="rId3">
            <a:alphaModFix/>
          </a:blip>
          <a:srcRect b="0" l="0" r="0" t="0"/>
          <a:stretch/>
        </p:blipFill>
        <p:spPr>
          <a:xfrm>
            <a:off x="6933456" y="1314965"/>
            <a:ext cx="4810053" cy="3426851"/>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167" name="Google Shape;167;p1"/>
          <p:cNvSpPr/>
          <p:nvPr/>
        </p:nvSpPr>
        <p:spPr>
          <a:xfrm>
            <a:off x="1397726" y="2259873"/>
            <a:ext cx="4859382" cy="1107996"/>
          </a:xfrm>
          <a:prstGeom prst="rect">
            <a:avLst/>
          </a:prstGeom>
          <a:gradFill>
            <a:gsLst>
              <a:gs pos="0">
                <a:srgbClr val="E08C47"/>
              </a:gs>
              <a:gs pos="100000">
                <a:srgbClr val="CD7415"/>
              </a:gs>
            </a:gsLst>
            <a:lin ang="5400000" scaled="0"/>
          </a:gradFill>
          <a:ln cap="rnd" cmpd="sng" w="9525">
            <a:solidFill>
              <a:srgbClr val="D37816"/>
            </a:solidFill>
            <a:prstDash val="solid"/>
            <a:round/>
            <a:headEnd len="sm" w="sm" type="none"/>
            <a:tailEnd len="sm" w="sm" type="none"/>
          </a:ln>
          <a:effectLst>
            <a:outerShdw blurRad="38100" rotWithShape="0" dir="5400000" dist="25400">
              <a:srgbClr val="000000">
                <a:alpha val="2470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lang="fr-FR" sz="4800">
                <a:solidFill>
                  <a:srgbClr val="236147"/>
                </a:solidFill>
                <a:latin typeface="Century Gothic"/>
                <a:ea typeface="Century Gothic"/>
                <a:cs typeface="Century Gothic"/>
                <a:sym typeface="Century Gothic"/>
              </a:rPr>
              <a:t>Le stress**!!:</a:t>
            </a:r>
            <a:endParaRPr/>
          </a:p>
          <a:p>
            <a:pPr indent="0" lvl="0" marL="0" marR="0" rtl="0" algn="l">
              <a:spcBef>
                <a:spcPts val="0"/>
              </a:spcBef>
              <a:spcAft>
                <a:spcPts val="0"/>
              </a:spcAft>
              <a:buNone/>
            </a:pPr>
            <a:r>
              <a:rPr b="1" lang="fr-FR" sz="1800">
                <a:solidFill>
                  <a:srgbClr val="236147"/>
                </a:solidFill>
                <a:latin typeface="Century Gothic"/>
                <a:ea typeface="Century Gothic"/>
                <a:cs typeface="Century Gothic"/>
                <a:sym typeface="Century Gothic"/>
              </a:rPr>
              <a:t>  </a:t>
            </a:r>
            <a:endParaRPr/>
          </a:p>
        </p:txBody>
      </p:sp>
      <p:sp>
        <p:nvSpPr>
          <p:cNvPr id="168" name="Google Shape;168;p1"/>
          <p:cNvSpPr/>
          <p:nvPr/>
        </p:nvSpPr>
        <p:spPr>
          <a:xfrm>
            <a:off x="1785258" y="4598128"/>
            <a:ext cx="2930435" cy="19082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rgbClr val="FF0000"/>
                </a:solidFill>
                <a:latin typeface="Century Gothic"/>
                <a:ea typeface="Century Gothic"/>
                <a:cs typeface="Century Gothic"/>
                <a:sym typeface="Century Gothic"/>
              </a:rPr>
              <a:t>Réalisé par:</a:t>
            </a:r>
            <a:endParaRPr/>
          </a:p>
          <a:p>
            <a:pPr indent="-127000" lvl="0" marL="0" marR="0" rtl="0" algn="l">
              <a:spcBef>
                <a:spcPts val="0"/>
              </a:spcBef>
              <a:spcAft>
                <a:spcPts val="0"/>
              </a:spcAft>
              <a:buClr>
                <a:srgbClr val="315949"/>
              </a:buClr>
              <a:buSzPts val="2000"/>
              <a:buFont typeface="Noto Sans Symbols"/>
              <a:buChar char="❖"/>
            </a:pPr>
            <a:r>
              <a:rPr b="1" lang="fr-FR" sz="2000">
                <a:solidFill>
                  <a:srgbClr val="315949"/>
                </a:solidFill>
                <a:latin typeface="Century Gothic"/>
                <a:ea typeface="Century Gothic"/>
                <a:cs typeface="Century Gothic"/>
                <a:sym typeface="Century Gothic"/>
              </a:rPr>
              <a:t>Safa EZZOUAZI</a:t>
            </a:r>
            <a:endParaRPr/>
          </a:p>
          <a:p>
            <a:pPr indent="-127000" lvl="0" marL="0" marR="0" rtl="0" algn="l">
              <a:spcBef>
                <a:spcPts val="0"/>
              </a:spcBef>
              <a:spcAft>
                <a:spcPts val="0"/>
              </a:spcAft>
              <a:buClr>
                <a:srgbClr val="315949"/>
              </a:buClr>
              <a:buSzPts val="2000"/>
              <a:buFont typeface="Noto Sans Symbols"/>
              <a:buChar char="❖"/>
            </a:pPr>
            <a:r>
              <a:rPr b="1" lang="fr-FR" sz="2000">
                <a:solidFill>
                  <a:srgbClr val="315949"/>
                </a:solidFill>
                <a:latin typeface="Century Gothic"/>
                <a:ea typeface="Century Gothic"/>
                <a:cs typeface="Century Gothic"/>
                <a:sym typeface="Century Gothic"/>
              </a:rPr>
              <a:t>Ayoub OUADEFLY</a:t>
            </a:r>
            <a:endParaRPr/>
          </a:p>
          <a:p>
            <a:pPr indent="-127000" lvl="0" marL="0" marR="0" rtl="0" algn="l">
              <a:spcBef>
                <a:spcPts val="0"/>
              </a:spcBef>
              <a:spcAft>
                <a:spcPts val="0"/>
              </a:spcAft>
              <a:buClr>
                <a:srgbClr val="315949"/>
              </a:buClr>
              <a:buSzPts val="2000"/>
              <a:buFont typeface="Noto Sans Symbols"/>
              <a:buChar char="❖"/>
            </a:pPr>
            <a:r>
              <a:rPr b="1" lang="fr-FR" sz="2000">
                <a:solidFill>
                  <a:srgbClr val="315949"/>
                </a:solidFill>
                <a:latin typeface="Century Gothic"/>
                <a:ea typeface="Century Gothic"/>
                <a:cs typeface="Century Gothic"/>
                <a:sym typeface="Century Gothic"/>
              </a:rPr>
              <a:t>Chaimae ZOUHRI</a:t>
            </a:r>
            <a:endParaRPr/>
          </a:p>
          <a:p>
            <a:pPr indent="0" lvl="0" marL="0" marR="0" rtl="0" algn="l">
              <a:spcBef>
                <a:spcPts val="0"/>
              </a:spcBef>
              <a:spcAft>
                <a:spcPts val="0"/>
              </a:spcAft>
              <a:buNone/>
            </a:pPr>
            <a:r>
              <a:t/>
            </a:r>
            <a:endParaRPr b="1" sz="2000">
              <a:solidFill>
                <a:srgbClr val="FF0000"/>
              </a:solidFill>
              <a:latin typeface="Century Gothic"/>
              <a:ea typeface="Century Gothic"/>
              <a:cs typeface="Century Gothic"/>
              <a:sym typeface="Century Gothic"/>
            </a:endParaRPr>
          </a:p>
          <a:p>
            <a:pPr indent="0" lvl="0" marL="0" marR="0" rtl="0" algn="l">
              <a:spcBef>
                <a:spcPts val="0"/>
              </a:spcBef>
              <a:spcAft>
                <a:spcPts val="0"/>
              </a:spcAft>
              <a:buNone/>
            </a:pPr>
            <a:r>
              <a:t/>
            </a:r>
            <a:endParaRPr b="1" sz="1800">
              <a:solidFill>
                <a:schemeClr val="accent2"/>
              </a:solidFill>
              <a:latin typeface="Century Gothic"/>
              <a:ea typeface="Century Gothic"/>
              <a:cs typeface="Century Gothic"/>
              <a:sym typeface="Century Gothic"/>
            </a:endParaRPr>
          </a:p>
        </p:txBody>
      </p:sp>
      <p:sp>
        <p:nvSpPr>
          <p:cNvPr id="169" name="Google Shape;169;p1"/>
          <p:cNvSpPr/>
          <p:nvPr/>
        </p:nvSpPr>
        <p:spPr>
          <a:xfrm>
            <a:off x="7659189" y="4689566"/>
            <a:ext cx="4924697"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rgbClr val="FF0000"/>
                </a:solidFill>
                <a:latin typeface="Century Gothic"/>
                <a:ea typeface="Century Gothic"/>
                <a:cs typeface="Century Gothic"/>
                <a:sym typeface="Century Gothic"/>
              </a:rPr>
              <a:t>Encadré par </a:t>
            </a:r>
            <a:r>
              <a:rPr b="1" lang="fr-FR" sz="2000">
                <a:solidFill>
                  <a:srgbClr val="FF0000"/>
                </a:solidFill>
                <a:latin typeface="Century Gothic"/>
                <a:ea typeface="Century Gothic"/>
                <a:cs typeface="Century Gothic"/>
                <a:sym typeface="Century Gothic"/>
              </a:rPr>
              <a:t>:</a:t>
            </a:r>
            <a:endParaRPr/>
          </a:p>
          <a:p>
            <a:pPr indent="-114300" lvl="0" marL="0" marR="0" rtl="0" algn="l">
              <a:spcBef>
                <a:spcPts val="0"/>
              </a:spcBef>
              <a:spcAft>
                <a:spcPts val="0"/>
              </a:spcAft>
              <a:buClr>
                <a:srgbClr val="315949"/>
              </a:buClr>
              <a:buSzPts val="1800"/>
              <a:buFont typeface="Noto Sans Symbols"/>
              <a:buChar char="❖"/>
            </a:pPr>
            <a:r>
              <a:rPr b="1" lang="fr-FR" sz="1800">
                <a:solidFill>
                  <a:srgbClr val="315949"/>
                </a:solidFill>
                <a:latin typeface="Century Gothic"/>
                <a:ea typeface="Century Gothic"/>
                <a:cs typeface="Century Gothic"/>
                <a:sym typeface="Century Gothic"/>
              </a:rPr>
              <a:t>MLLE: ASMAE BELKHOU</a:t>
            </a:r>
            <a:endParaRPr/>
          </a:p>
          <a:p>
            <a:pPr indent="0" lvl="0" marL="0" marR="0" rtl="0" algn="l">
              <a:spcBef>
                <a:spcPts val="0"/>
              </a:spcBef>
              <a:spcAft>
                <a:spcPts val="0"/>
              </a:spcAft>
              <a:buNone/>
            </a:pPr>
            <a:r>
              <a:t/>
            </a:r>
            <a:endParaRPr b="1" sz="4800">
              <a:solidFill>
                <a:srgbClr val="FF0000"/>
              </a:solidFill>
              <a:latin typeface="Century Gothic"/>
              <a:ea typeface="Century Gothic"/>
              <a:cs typeface="Century Gothic"/>
              <a:sym typeface="Century Gothic"/>
            </a:endParaRPr>
          </a:p>
          <a:p>
            <a:pPr indent="0" lvl="0" marL="0" marR="0" rtl="0" algn="l">
              <a:spcBef>
                <a:spcPts val="0"/>
              </a:spcBef>
              <a:spcAft>
                <a:spcPts val="0"/>
              </a:spcAft>
              <a:buNone/>
            </a:pPr>
            <a:r>
              <a:rPr b="1" lang="fr-FR" sz="1800">
                <a:solidFill>
                  <a:schemeClr val="dk2"/>
                </a:solidFill>
                <a:latin typeface="Century Gothic"/>
                <a:ea typeface="Century Gothic"/>
                <a:cs typeface="Century Gothic"/>
                <a:sym typeface="Century Gothic"/>
              </a:rPr>
              <a:t> </a:t>
            </a:r>
            <a:r>
              <a:rPr b="1" lang="fr-FR" sz="1800">
                <a:solidFill>
                  <a:schemeClr val="accent2"/>
                </a:solidFill>
                <a:latin typeface="Century Gothic"/>
                <a:ea typeface="Century Gothic"/>
                <a:cs typeface="Century Gothic"/>
                <a:sym typeface="Century Gothic"/>
              </a:rPr>
              <a:t> </a:t>
            </a:r>
            <a:endParaRPr/>
          </a:p>
        </p:txBody>
      </p:sp>
    </p:spTree>
  </p:cSld>
  <p:clrMapOvr>
    <a:masterClrMapping/>
  </p:clrMapOvr>
  <p:transition spd="slow" p14:dur="1500">
    <p:split orient="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20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Effect filter="fade" transition="in">
                                      <p:cBhvr>
                                        <p:cTn dur="1000"/>
                                        <p:tgtEl>
                                          <p:spTgt spid="16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
          <p:cNvSpPr txBox="1"/>
          <p:nvPr>
            <p:ph type="ctrTitle"/>
          </p:nvPr>
        </p:nvSpPr>
        <p:spPr>
          <a:xfrm>
            <a:off x="1841065" y="746975"/>
            <a:ext cx="8915399" cy="171289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FF0000"/>
              </a:buClr>
              <a:buSzPts val="6000"/>
              <a:buFont typeface="Century Gothic"/>
              <a:buNone/>
            </a:pPr>
            <a:r>
              <a:rPr b="1" i="1" lang="fr-FR" sz="6000" u="sng">
                <a:solidFill>
                  <a:srgbClr val="FF0000"/>
                </a:solidFill>
              </a:rPr>
              <a:t>PLAN</a:t>
            </a:r>
            <a:br>
              <a:rPr b="1" i="1" lang="fr-FR" sz="6000" u="sng">
                <a:solidFill>
                  <a:srgbClr val="FF0000"/>
                </a:solidFill>
              </a:rPr>
            </a:br>
            <a:endParaRPr b="1" i="1" sz="6000" u="sng">
              <a:solidFill>
                <a:srgbClr val="FF0000"/>
              </a:solidFill>
            </a:endParaRPr>
          </a:p>
        </p:txBody>
      </p:sp>
      <p:sp>
        <p:nvSpPr>
          <p:cNvPr id="175" name="Google Shape;175;p2"/>
          <p:cNvSpPr txBox="1"/>
          <p:nvPr>
            <p:ph idx="1" type="subTitle"/>
          </p:nvPr>
        </p:nvSpPr>
        <p:spPr>
          <a:xfrm>
            <a:off x="1841064" y="2034862"/>
            <a:ext cx="8915399" cy="558299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fr-FR" sz="2800">
                <a:solidFill>
                  <a:srgbClr val="EFB16F"/>
                </a:solidFill>
              </a:rPr>
              <a:t>  1- </a:t>
            </a:r>
            <a:r>
              <a:rPr b="1" lang="fr-FR" sz="2800" u="sng">
                <a:solidFill>
                  <a:srgbClr val="EFB16F"/>
                </a:solidFill>
              </a:rPr>
              <a:t>Définition générale du stress :</a:t>
            </a:r>
            <a:endParaRPr/>
          </a:p>
          <a:p>
            <a:pPr indent="-285750" lvl="1" marL="742950" rtl="0" algn="l">
              <a:spcBef>
                <a:spcPts val="1000"/>
              </a:spcBef>
              <a:spcAft>
                <a:spcPts val="0"/>
              </a:spcAft>
              <a:buSzPts val="1600"/>
              <a:buFont typeface="Noto Sans Symbols"/>
              <a:buChar char="❑"/>
            </a:pPr>
            <a:r>
              <a:rPr lang="fr-FR">
                <a:solidFill>
                  <a:srgbClr val="0C0C0C"/>
                </a:solidFill>
              </a:rPr>
              <a:t>  Qu’est ce que le stress ?</a:t>
            </a:r>
            <a:endParaRPr/>
          </a:p>
          <a:p>
            <a:pPr indent="-285750" lvl="1" marL="742950" rtl="0" algn="l">
              <a:spcBef>
                <a:spcPts val="1000"/>
              </a:spcBef>
              <a:spcAft>
                <a:spcPts val="0"/>
              </a:spcAft>
              <a:buSzPts val="1600"/>
              <a:buFont typeface="Noto Sans Symbols"/>
              <a:buChar char="❑"/>
            </a:pPr>
            <a:r>
              <a:rPr lang="fr-FR">
                <a:solidFill>
                  <a:srgbClr val="0C0C0C"/>
                </a:solidFill>
              </a:rPr>
              <a:t>   Qui est touché par le stress ?</a:t>
            </a:r>
            <a:endParaRPr/>
          </a:p>
          <a:p>
            <a:pPr indent="-285750" lvl="1" marL="742950" rtl="0" algn="l">
              <a:spcBef>
                <a:spcPts val="1000"/>
              </a:spcBef>
              <a:spcAft>
                <a:spcPts val="0"/>
              </a:spcAft>
              <a:buSzPts val="1600"/>
              <a:buFont typeface="Noto Sans Symbols"/>
              <a:buChar char="❑"/>
            </a:pPr>
            <a:r>
              <a:rPr lang="fr-FR">
                <a:solidFill>
                  <a:srgbClr val="0C0C0C"/>
                </a:solidFill>
              </a:rPr>
              <a:t>    Les types de stress</a:t>
            </a:r>
            <a:endParaRPr/>
          </a:p>
          <a:p>
            <a:pPr indent="-285750" lvl="1" marL="742950" rtl="0" algn="l">
              <a:spcBef>
                <a:spcPts val="1000"/>
              </a:spcBef>
              <a:spcAft>
                <a:spcPts val="0"/>
              </a:spcAft>
              <a:buSzPts val="1600"/>
              <a:buFont typeface="Noto Sans Symbols"/>
              <a:buChar char="❑"/>
            </a:pPr>
            <a:r>
              <a:rPr lang="fr-FR">
                <a:solidFill>
                  <a:srgbClr val="0C0C0C"/>
                </a:solidFill>
              </a:rPr>
              <a:t>    Les phases se stress</a:t>
            </a:r>
            <a:endParaRPr/>
          </a:p>
          <a:p>
            <a:pPr indent="-285750" lvl="1" marL="742950" rtl="0" algn="l">
              <a:spcBef>
                <a:spcPts val="1000"/>
              </a:spcBef>
              <a:spcAft>
                <a:spcPts val="0"/>
              </a:spcAft>
              <a:buSzPts val="1600"/>
              <a:buFont typeface="Noto Sans Symbols"/>
              <a:buChar char="❑"/>
            </a:pPr>
            <a:r>
              <a:rPr lang="fr-FR">
                <a:solidFill>
                  <a:srgbClr val="0C0C0C"/>
                </a:solidFill>
              </a:rPr>
              <a:t>    Les formes de stress</a:t>
            </a:r>
            <a:endParaRPr/>
          </a:p>
          <a:p>
            <a:pPr indent="0" lvl="0" marL="0" rtl="0" algn="l">
              <a:spcBef>
                <a:spcPts val="1000"/>
              </a:spcBef>
              <a:spcAft>
                <a:spcPts val="0"/>
              </a:spcAft>
              <a:buSzPts val="3200"/>
              <a:buNone/>
            </a:pPr>
            <a:r>
              <a:rPr b="1" lang="fr-FR" sz="3200">
                <a:solidFill>
                  <a:srgbClr val="EFB16F"/>
                </a:solidFill>
              </a:rPr>
              <a:t>  2- </a:t>
            </a:r>
            <a:r>
              <a:rPr b="1" lang="fr-FR" sz="3200" u="sng">
                <a:solidFill>
                  <a:srgbClr val="EFB16F"/>
                </a:solidFill>
              </a:rPr>
              <a:t>Les symptômes et les maladies du stress</a:t>
            </a:r>
            <a:endParaRPr/>
          </a:p>
          <a:p>
            <a:pPr indent="0" lvl="0" marL="0" rtl="0" algn="l">
              <a:spcBef>
                <a:spcPts val="1000"/>
              </a:spcBef>
              <a:spcAft>
                <a:spcPts val="0"/>
              </a:spcAft>
              <a:buSzPts val="3200"/>
              <a:buNone/>
            </a:pPr>
            <a:r>
              <a:rPr b="1" lang="fr-FR" sz="3200">
                <a:solidFill>
                  <a:srgbClr val="EFB16F"/>
                </a:solidFill>
              </a:rPr>
              <a:t>  3- </a:t>
            </a:r>
            <a:r>
              <a:rPr b="1" lang="fr-FR" sz="3200" u="sng">
                <a:solidFill>
                  <a:srgbClr val="EFB16F"/>
                </a:solidFill>
              </a:rPr>
              <a:t>Les causes et les approches du stress</a:t>
            </a:r>
            <a:endParaRPr/>
          </a:p>
          <a:p>
            <a:pPr indent="0" lvl="0" marL="0" rtl="0" algn="l">
              <a:spcBef>
                <a:spcPts val="1000"/>
              </a:spcBef>
              <a:spcAft>
                <a:spcPts val="0"/>
              </a:spcAft>
              <a:buSzPts val="3200"/>
              <a:buNone/>
            </a:pPr>
            <a:r>
              <a:rPr b="1" lang="fr-FR" sz="3200">
                <a:solidFill>
                  <a:srgbClr val="EFB16F"/>
                </a:solidFill>
              </a:rPr>
              <a:t>   4-</a:t>
            </a:r>
            <a:r>
              <a:rPr b="1" lang="fr-FR" sz="3200" u="sng">
                <a:solidFill>
                  <a:srgbClr val="EFB16F"/>
                </a:solidFill>
              </a:rPr>
              <a:t>Gestion du stress</a:t>
            </a:r>
            <a:endParaRPr/>
          </a:p>
          <a:p>
            <a:pPr indent="0" lvl="0" marL="0" rtl="0" algn="l">
              <a:spcBef>
                <a:spcPts val="1000"/>
              </a:spcBef>
              <a:spcAft>
                <a:spcPts val="0"/>
              </a:spcAft>
              <a:buSzPts val="3200"/>
              <a:buNone/>
            </a:pPr>
            <a:r>
              <a:t/>
            </a:r>
            <a:endParaRPr sz="3200" u="sng">
              <a:solidFill>
                <a:srgbClr val="EFB16F"/>
              </a:solidFill>
            </a:endParaRPr>
          </a:p>
          <a:p>
            <a:pPr indent="0" lvl="0" marL="0" rtl="0" algn="l">
              <a:spcBef>
                <a:spcPts val="1000"/>
              </a:spcBef>
              <a:spcAft>
                <a:spcPts val="0"/>
              </a:spcAft>
              <a:buSzPts val="1800"/>
              <a:buNone/>
            </a:pPr>
            <a:r>
              <a:rPr lang="fr-FR"/>
              <a:t> </a:t>
            </a:r>
            <a:endParaRPr/>
          </a:p>
          <a:p>
            <a:pPr indent="0" lvl="0" marL="0" rtl="0" algn="l">
              <a:spcBef>
                <a:spcPts val="1000"/>
              </a:spcBef>
              <a:spcAft>
                <a:spcPts val="0"/>
              </a:spcAft>
              <a:buSzPts val="1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100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animEffect filter="fade" transition="in">
                                      <p:cBhvr>
                                        <p:cTn dur="1000"/>
                                        <p:tgtEl>
                                          <p:spTgt spid="1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animEffect filter="fade" transition="in">
                                      <p:cBhvr>
                                        <p:cTn dur="1000"/>
                                        <p:tgtEl>
                                          <p:spTgt spid="1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animEffect filter="fade" transition="in">
                                      <p:cBhvr>
                                        <p:cTn dur="1000"/>
                                        <p:tgtEl>
                                          <p:spTgt spid="1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3" st="3"/>
                                            </p:txEl>
                                          </p:spTgt>
                                        </p:tgtEl>
                                        <p:attrNameLst>
                                          <p:attrName>style.visibility</p:attrName>
                                        </p:attrNameLst>
                                      </p:cBhvr>
                                      <p:to>
                                        <p:strVal val="visible"/>
                                      </p:to>
                                    </p:set>
                                    <p:animEffect filter="fade" transition="in">
                                      <p:cBhvr>
                                        <p:cTn dur="1000"/>
                                        <p:tgtEl>
                                          <p:spTgt spid="1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4" st="4"/>
                                            </p:txEl>
                                          </p:spTgt>
                                        </p:tgtEl>
                                        <p:attrNameLst>
                                          <p:attrName>style.visibility</p:attrName>
                                        </p:attrNameLst>
                                      </p:cBhvr>
                                      <p:to>
                                        <p:strVal val="visible"/>
                                      </p:to>
                                    </p:set>
                                    <p:animEffect filter="fade" transition="in">
                                      <p:cBhvr>
                                        <p:cTn dur="1000"/>
                                        <p:tgtEl>
                                          <p:spTgt spid="17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5" st="5"/>
                                            </p:txEl>
                                          </p:spTgt>
                                        </p:tgtEl>
                                        <p:attrNameLst>
                                          <p:attrName>style.visibility</p:attrName>
                                        </p:attrNameLst>
                                      </p:cBhvr>
                                      <p:to>
                                        <p:strVal val="visible"/>
                                      </p:to>
                                    </p:set>
                                    <p:animEffect filter="fade" transition="in">
                                      <p:cBhvr>
                                        <p:cTn dur="1000"/>
                                        <p:tgtEl>
                                          <p:spTgt spid="17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6" st="6"/>
                                            </p:txEl>
                                          </p:spTgt>
                                        </p:tgtEl>
                                        <p:attrNameLst>
                                          <p:attrName>style.visibility</p:attrName>
                                        </p:attrNameLst>
                                      </p:cBhvr>
                                      <p:to>
                                        <p:strVal val="visible"/>
                                      </p:to>
                                    </p:set>
                                    <p:animEffect filter="fade" transition="in">
                                      <p:cBhvr>
                                        <p:cTn dur="1000"/>
                                        <p:tgtEl>
                                          <p:spTgt spid="17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7" st="7"/>
                                            </p:txEl>
                                          </p:spTgt>
                                        </p:tgtEl>
                                        <p:attrNameLst>
                                          <p:attrName>style.visibility</p:attrName>
                                        </p:attrNameLst>
                                      </p:cBhvr>
                                      <p:to>
                                        <p:strVal val="visible"/>
                                      </p:to>
                                    </p:set>
                                    <p:animEffect filter="fade" transition="in">
                                      <p:cBhvr>
                                        <p:cTn dur="1000"/>
                                        <p:tgtEl>
                                          <p:spTgt spid="17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8" st="8"/>
                                            </p:txEl>
                                          </p:spTgt>
                                        </p:tgtEl>
                                        <p:attrNameLst>
                                          <p:attrName>style.visibility</p:attrName>
                                        </p:attrNameLst>
                                      </p:cBhvr>
                                      <p:to>
                                        <p:strVal val="visible"/>
                                      </p:to>
                                    </p:set>
                                    <p:animEffect filter="fade" transition="in">
                                      <p:cBhvr>
                                        <p:cTn dur="1000"/>
                                        <p:tgtEl>
                                          <p:spTgt spid="17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9" st="9"/>
                                            </p:txEl>
                                          </p:spTgt>
                                        </p:tgtEl>
                                        <p:attrNameLst>
                                          <p:attrName>style.visibility</p:attrName>
                                        </p:attrNameLst>
                                      </p:cBhvr>
                                      <p:to>
                                        <p:strVal val="visible"/>
                                      </p:to>
                                    </p:set>
                                    <p:animEffect filter="fade" transition="in">
                                      <p:cBhvr>
                                        <p:cTn dur="1000"/>
                                        <p:tgtEl>
                                          <p:spTgt spid="17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10" st="10"/>
                                            </p:txEl>
                                          </p:spTgt>
                                        </p:tgtEl>
                                        <p:attrNameLst>
                                          <p:attrName>style.visibility</p:attrName>
                                        </p:attrNameLst>
                                      </p:cBhvr>
                                      <p:to>
                                        <p:strVal val="visible"/>
                                      </p:to>
                                    </p:set>
                                    <p:animEffect filter="fade" transition="in">
                                      <p:cBhvr>
                                        <p:cTn dur="1000"/>
                                        <p:tgtEl>
                                          <p:spTgt spid="17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11" st="11"/>
                                            </p:txEl>
                                          </p:spTgt>
                                        </p:tgtEl>
                                        <p:attrNameLst>
                                          <p:attrName>style.visibility</p:attrName>
                                        </p:attrNameLst>
                                      </p:cBhvr>
                                      <p:to>
                                        <p:strVal val="visible"/>
                                      </p:to>
                                    </p:set>
                                    <p:animEffect filter="fade" transition="in">
                                      <p:cBhvr>
                                        <p:cTn dur="1000"/>
                                        <p:tgtEl>
                                          <p:spTgt spid="175">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
          <p:cNvSpPr txBox="1"/>
          <p:nvPr>
            <p:ph type="title"/>
          </p:nvPr>
        </p:nvSpPr>
        <p:spPr>
          <a:xfrm>
            <a:off x="1442434" y="616071"/>
            <a:ext cx="1007505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EFB16F"/>
              </a:buClr>
              <a:buSzPts val="3600"/>
              <a:buFont typeface="Century Gothic"/>
              <a:buNone/>
            </a:pPr>
            <a:r>
              <a:rPr b="1" lang="fr-FR">
                <a:solidFill>
                  <a:srgbClr val="EFB16F"/>
                </a:solidFill>
              </a:rPr>
              <a:t> 1-</a:t>
            </a:r>
            <a:r>
              <a:rPr b="1" lang="fr-FR" u="sng">
                <a:solidFill>
                  <a:srgbClr val="EFB16F"/>
                </a:solidFill>
              </a:rPr>
              <a:t>Définition générale du stress :</a:t>
            </a:r>
            <a:endParaRPr/>
          </a:p>
        </p:txBody>
      </p:sp>
      <p:pic>
        <p:nvPicPr>
          <p:cNvPr id="181" name="Google Shape;181;p3"/>
          <p:cNvPicPr preferRelativeResize="0"/>
          <p:nvPr>
            <p:ph idx="1" type="body"/>
          </p:nvPr>
        </p:nvPicPr>
        <p:blipFill rotWithShape="1">
          <a:blip r:embed="rId3">
            <a:alphaModFix/>
          </a:blip>
          <a:srcRect b="0" l="0" r="0" t="0"/>
          <a:stretch/>
        </p:blipFill>
        <p:spPr>
          <a:xfrm>
            <a:off x="8062176" y="1423580"/>
            <a:ext cx="3896138" cy="3797776"/>
          </a:xfrm>
          <a:prstGeom prst="ellipse">
            <a:avLst/>
          </a:prstGeom>
          <a:noFill/>
          <a:ln>
            <a:noFill/>
          </a:ln>
        </p:spPr>
      </p:pic>
      <p:sp>
        <p:nvSpPr>
          <p:cNvPr id="182" name="Google Shape;182;p3"/>
          <p:cNvSpPr/>
          <p:nvPr/>
        </p:nvSpPr>
        <p:spPr>
          <a:xfrm>
            <a:off x="1056069" y="1696930"/>
            <a:ext cx="4713666" cy="480837"/>
          </a:xfrm>
          <a:prstGeom prst="rect">
            <a:avLst/>
          </a:prstGeom>
          <a:noFill/>
          <a:ln>
            <a:noFill/>
          </a:ln>
        </p:spPr>
        <p:txBody>
          <a:bodyPr anchorCtr="0" anchor="t" bIns="45700" lIns="91425" spcFirstLastPara="1" rIns="91425" wrap="square" tIns="45700">
            <a:spAutoFit/>
          </a:bodyPr>
          <a:lstStyle/>
          <a:p>
            <a:pPr indent="-342900" lvl="1" marL="800100" marR="0" rtl="0" algn="l">
              <a:lnSpc>
                <a:spcPct val="115000"/>
              </a:lnSpc>
              <a:spcBef>
                <a:spcPts val="0"/>
              </a:spcBef>
              <a:spcAft>
                <a:spcPts val="0"/>
              </a:spcAft>
              <a:buClr>
                <a:srgbClr val="4BACC6"/>
              </a:buClr>
              <a:buSzPts val="2400"/>
              <a:buFont typeface="Noto Sans Symbols"/>
              <a:buChar char="❑"/>
            </a:pPr>
            <a:r>
              <a:rPr b="1" i="0" lang="fr-FR" sz="2400" u="none" cap="none" strike="noStrike">
                <a:solidFill>
                  <a:srgbClr val="4BACC6"/>
                </a:solidFill>
                <a:latin typeface="Cambria"/>
                <a:ea typeface="Cambria"/>
                <a:cs typeface="Cambria"/>
                <a:sym typeface="Cambria"/>
              </a:rPr>
              <a:t>Qu’est-ce que le stress ?</a:t>
            </a:r>
            <a:endParaRPr b="1" i="0" sz="2400" u="none" cap="none" strike="noStrike">
              <a:solidFill>
                <a:srgbClr val="4BACC6"/>
              </a:solidFill>
              <a:latin typeface="Cambria"/>
              <a:ea typeface="Cambria"/>
              <a:cs typeface="Cambria"/>
              <a:sym typeface="Cambria"/>
            </a:endParaRPr>
          </a:p>
        </p:txBody>
      </p:sp>
      <p:sp>
        <p:nvSpPr>
          <p:cNvPr id="183" name="Google Shape;183;p3"/>
          <p:cNvSpPr/>
          <p:nvPr/>
        </p:nvSpPr>
        <p:spPr>
          <a:xfrm>
            <a:off x="1815921" y="2736281"/>
            <a:ext cx="6246255" cy="221599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fr-FR" sz="2000">
                <a:solidFill>
                  <a:schemeClr val="dk1"/>
                </a:solidFill>
                <a:latin typeface="Calibri"/>
                <a:ea typeface="Calibri"/>
                <a:cs typeface="Calibri"/>
                <a:sym typeface="Calibri"/>
              </a:rPr>
              <a:t>Le stress est un ensemble de réactions physiques et physiologiques de l'organisme, face à une situation particulière, que l'on dit stressante, et/ou des facteurs de stress. Il peut concerner tout le monde, le plus généralement sur une courte durée. Une situation de stress chronique est cependant pathologique.</a:t>
            </a:r>
            <a:endParaRPr sz="2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000"/>
                                        <p:tgtEl>
                                          <p:spTgt spid="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2000"/>
                                        <p:tgtEl>
                                          <p:spTgt spid="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500"/>
                                        <p:tgtEl>
                                          <p:spTgt spid="18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
          <p:cNvSpPr txBox="1"/>
          <p:nvPr>
            <p:ph type="title"/>
          </p:nvPr>
        </p:nvSpPr>
        <p:spPr>
          <a:xfrm>
            <a:off x="1987618" y="405684"/>
            <a:ext cx="8911687" cy="811369"/>
          </a:xfrm>
          <a:prstGeom prst="rect">
            <a:avLst/>
          </a:prstGeom>
          <a:noFill/>
          <a:ln>
            <a:noFill/>
          </a:ln>
        </p:spPr>
        <p:txBody>
          <a:bodyPr anchorCtr="0" anchor="t" bIns="45700" lIns="91425" spcFirstLastPara="1" rIns="91425" wrap="square" tIns="45700">
            <a:noAutofit/>
          </a:bodyPr>
          <a:lstStyle/>
          <a:p>
            <a:pPr indent="-342900" lvl="1" marL="342900" rtl="0" algn="l">
              <a:spcBef>
                <a:spcPts val="0"/>
              </a:spcBef>
              <a:spcAft>
                <a:spcPts val="0"/>
              </a:spcAft>
              <a:buClr>
                <a:srgbClr val="00B0F0"/>
              </a:buClr>
              <a:buSzPts val="2400"/>
              <a:buFont typeface="Noto Sans Symbols"/>
              <a:buChar char="❑"/>
            </a:pPr>
            <a:r>
              <a:rPr b="1" lang="fr-FR" sz="2400">
                <a:solidFill>
                  <a:srgbClr val="00B0F0"/>
                </a:solidFill>
              </a:rPr>
              <a:t>Qu’est touché par le stress ?</a:t>
            </a:r>
            <a:br>
              <a:rPr b="1" lang="fr-FR" sz="2400">
                <a:solidFill>
                  <a:srgbClr val="00B0F0"/>
                </a:solidFill>
              </a:rPr>
            </a:br>
            <a:endParaRPr sz="2400">
              <a:solidFill>
                <a:srgbClr val="00B0F0"/>
              </a:solidFill>
            </a:endParaRPr>
          </a:p>
        </p:txBody>
      </p:sp>
      <p:sp>
        <p:nvSpPr>
          <p:cNvPr id="189" name="Google Shape;189;p4"/>
          <p:cNvSpPr txBox="1"/>
          <p:nvPr>
            <p:ph idx="1" type="body"/>
          </p:nvPr>
        </p:nvSpPr>
        <p:spPr>
          <a:xfrm>
            <a:off x="1429555" y="1030310"/>
            <a:ext cx="10075057" cy="5666704"/>
          </a:xfrm>
          <a:prstGeom prst="rect">
            <a:avLst/>
          </a:prstGeom>
          <a:noFill/>
          <a:ln>
            <a:noFill/>
          </a:ln>
        </p:spPr>
        <p:txBody>
          <a:bodyPr anchorCtr="0" anchor="t" bIns="45700" lIns="91425" spcFirstLastPara="1" rIns="91425" wrap="square" tIns="45700">
            <a:normAutofit/>
          </a:bodyPr>
          <a:lstStyle/>
          <a:p>
            <a:pPr indent="0" lvl="1" marL="0" rtl="0" algn="l">
              <a:spcBef>
                <a:spcPts val="0"/>
              </a:spcBef>
              <a:spcAft>
                <a:spcPts val="0"/>
              </a:spcAft>
              <a:buSzPts val="3600"/>
              <a:buNone/>
            </a:pPr>
            <a:r>
              <a:t/>
            </a:r>
            <a:endParaRPr b="1" sz="3600" u="sng">
              <a:solidFill>
                <a:srgbClr val="EFB16F"/>
              </a:solidFill>
            </a:endParaRPr>
          </a:p>
          <a:p>
            <a:pPr indent="-228600" lvl="0" marL="342900" rtl="0" algn="l">
              <a:spcBef>
                <a:spcPts val="1000"/>
              </a:spcBef>
              <a:spcAft>
                <a:spcPts val="0"/>
              </a:spcAft>
              <a:buSzPts val="1800"/>
              <a:buNone/>
            </a:pPr>
            <a:r>
              <a:t/>
            </a:r>
            <a:endParaRPr/>
          </a:p>
        </p:txBody>
      </p:sp>
      <p:pic>
        <p:nvPicPr>
          <p:cNvPr id="190" name="Google Shape;190;p4"/>
          <p:cNvPicPr preferRelativeResize="0"/>
          <p:nvPr/>
        </p:nvPicPr>
        <p:blipFill rotWithShape="1">
          <a:blip r:embed="rId3">
            <a:alphaModFix/>
          </a:blip>
          <a:srcRect b="0" l="0" r="0" t="0"/>
          <a:stretch/>
        </p:blipFill>
        <p:spPr>
          <a:xfrm>
            <a:off x="2270951" y="1030310"/>
            <a:ext cx="3825049" cy="2295985"/>
          </a:xfrm>
          <a:prstGeom prst="rect">
            <a:avLst/>
          </a:prstGeom>
          <a:noFill/>
          <a:ln cap="rnd" cmpd="sng" w="127000">
            <a:solidFill>
              <a:srgbClr val="A5A5A5"/>
            </a:solidFill>
            <a:prstDash val="solid"/>
            <a:round/>
            <a:headEnd len="sm" w="sm" type="none"/>
            <a:tailEnd len="sm" w="sm" type="none"/>
          </a:ln>
          <a:effectLst>
            <a:outerShdw blurRad="76200" sx="97000" kx="900000" rotWithShape="0" algn="br" dir="10500000" dist="95250" sy="23000">
              <a:srgbClr val="000000">
                <a:alpha val="20000"/>
              </a:srgbClr>
            </a:outerShdw>
          </a:effectLst>
        </p:spPr>
      </p:pic>
      <p:pic>
        <p:nvPicPr>
          <p:cNvPr id="191" name="Google Shape;191;p4"/>
          <p:cNvPicPr preferRelativeResize="0"/>
          <p:nvPr/>
        </p:nvPicPr>
        <p:blipFill rotWithShape="1">
          <a:blip r:embed="rId4">
            <a:alphaModFix/>
          </a:blip>
          <a:srcRect b="0" l="0" r="0" t="0"/>
          <a:stretch/>
        </p:blipFill>
        <p:spPr>
          <a:xfrm>
            <a:off x="6632596" y="1030309"/>
            <a:ext cx="3995647" cy="2295985"/>
          </a:xfrm>
          <a:prstGeom prst="rect">
            <a:avLst/>
          </a:prstGeom>
          <a:noFill/>
          <a:ln cap="rnd" cmpd="sng" w="127000">
            <a:solidFill>
              <a:srgbClr val="FFFFFF"/>
            </a:solidFill>
            <a:prstDash val="solid"/>
            <a:round/>
            <a:headEnd len="sm" w="sm" type="none"/>
            <a:tailEnd len="sm" w="sm" type="none"/>
          </a:ln>
          <a:effectLst>
            <a:outerShdw blurRad="76200" sx="97000" kx="900000" rotWithShape="0" algn="br" dir="10500000" dist="95250" sy="23000">
              <a:srgbClr val="000000">
                <a:alpha val="20000"/>
              </a:srgbClr>
            </a:outerShdw>
          </a:effectLst>
        </p:spPr>
      </p:pic>
      <p:sp>
        <p:nvSpPr>
          <p:cNvPr id="192" name="Google Shape;192;p4"/>
          <p:cNvSpPr/>
          <p:nvPr/>
        </p:nvSpPr>
        <p:spPr>
          <a:xfrm>
            <a:off x="2324357" y="3680978"/>
            <a:ext cx="8738595" cy="24724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fr-FR" sz="2000">
                <a:solidFill>
                  <a:schemeClr val="dk1"/>
                </a:solidFill>
                <a:latin typeface="Calibri"/>
                <a:ea typeface="Calibri"/>
                <a:cs typeface="Calibri"/>
                <a:sym typeface="Calibri"/>
              </a:rPr>
              <a:t>  Cependant Le stress est une situation courante dans la vie quotidienne et peut toucher chaque personne.</a:t>
            </a:r>
            <a:endParaRPr/>
          </a:p>
          <a:p>
            <a:pPr indent="0" lvl="0" marL="0" marR="0" rtl="0" algn="l">
              <a:lnSpc>
                <a:spcPct val="115000"/>
              </a:lnSpc>
              <a:spcBef>
                <a:spcPts val="1000"/>
              </a:spcBef>
              <a:spcAft>
                <a:spcPts val="0"/>
              </a:spcAft>
              <a:buNone/>
            </a:pPr>
            <a:r>
              <a:rPr lang="fr-FR" sz="2000">
                <a:solidFill>
                  <a:schemeClr val="dk1"/>
                </a:solidFill>
                <a:latin typeface="Calibri"/>
                <a:ea typeface="Calibri"/>
                <a:cs typeface="Calibri"/>
                <a:sym typeface="Calibri"/>
              </a:rPr>
              <a:t>  Cependant, l'intensité du stress varie d'une personne à l'autre en fonction de sa personnalité et de sa capacité à gérer la situation stressante.</a:t>
            </a:r>
            <a:endParaRPr/>
          </a:p>
          <a:p>
            <a:pPr indent="0" lvl="0" marL="0" marR="0" rtl="0" algn="l">
              <a:lnSpc>
                <a:spcPct val="115000"/>
              </a:lnSpc>
              <a:spcBef>
                <a:spcPts val="1000"/>
              </a:spcBef>
              <a:spcAft>
                <a:spcPts val="0"/>
              </a:spcAft>
              <a:buNone/>
            </a:pPr>
            <a:r>
              <a:rPr lang="fr-FR" sz="2000">
                <a:solidFill>
                  <a:schemeClr val="dk1"/>
                </a:solidFill>
                <a:latin typeface="Calibri"/>
                <a:ea typeface="Calibri"/>
                <a:cs typeface="Calibri"/>
                <a:sym typeface="Calibri"/>
              </a:rPr>
              <a:t>  Les individus dépressifs et anxieux sont notamment plus à risque de faire face au stress quotidien. </a:t>
            </a:r>
            <a:endParaRPr sz="2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0"/>
                                        </p:tgtEl>
                                        <p:attrNameLst>
                                          <p:attrName>style.visibility</p:attrName>
                                        </p:attrNameLst>
                                      </p:cBhvr>
                                      <p:to>
                                        <p:strVal val="visible"/>
                                      </p:to>
                                    </p:set>
                                    <p:anim calcmode="lin" valueType="num">
                                      <p:cBhvr additive="base">
                                        <p:cTn dur="500"/>
                                        <p:tgtEl>
                                          <p:spTgt spid="190"/>
                                        </p:tgtEl>
                                        <p:attrNameLst>
                                          <p:attrName>ppt_w</p:attrName>
                                        </p:attrNameLst>
                                      </p:cBhvr>
                                      <p:tavLst>
                                        <p:tav fmla="" tm="0">
                                          <p:val>
                                            <p:strVal val="0"/>
                                          </p:val>
                                        </p:tav>
                                        <p:tav fmla="" tm="100000">
                                          <p:val>
                                            <p:strVal val="#ppt_w"/>
                                          </p:val>
                                        </p:tav>
                                      </p:tavLst>
                                    </p:anim>
                                    <p:anim calcmode="lin" valueType="num">
                                      <p:cBhvr additive="base">
                                        <p:cTn dur="500"/>
                                        <p:tgtEl>
                                          <p:spTgt spid="19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1"/>
                                        </p:tgtEl>
                                        <p:attrNameLst>
                                          <p:attrName>style.visibility</p:attrName>
                                        </p:attrNameLst>
                                      </p:cBhvr>
                                      <p:to>
                                        <p:strVal val="visible"/>
                                      </p:to>
                                    </p:set>
                                    <p:anim calcmode="lin" valueType="num">
                                      <p:cBhvr additive="base">
                                        <p:cTn dur="500"/>
                                        <p:tgtEl>
                                          <p:spTgt spid="191"/>
                                        </p:tgtEl>
                                        <p:attrNameLst>
                                          <p:attrName>ppt_w</p:attrName>
                                        </p:attrNameLst>
                                      </p:cBhvr>
                                      <p:tavLst>
                                        <p:tav fmla="" tm="0">
                                          <p:val>
                                            <p:strVal val="0"/>
                                          </p:val>
                                        </p:tav>
                                        <p:tav fmla="" tm="100000">
                                          <p:val>
                                            <p:strVal val="#ppt_w"/>
                                          </p:val>
                                        </p:tav>
                                      </p:tavLst>
                                    </p:anim>
                                    <p:anim calcmode="lin" valueType="num">
                                      <p:cBhvr additive="base">
                                        <p:cTn dur="500"/>
                                        <p:tgtEl>
                                          <p:spTgt spid="19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5"/>
          <p:cNvSpPr txBox="1"/>
          <p:nvPr>
            <p:ph type="title"/>
          </p:nvPr>
        </p:nvSpPr>
        <p:spPr>
          <a:xfrm>
            <a:off x="1584101" y="231820"/>
            <a:ext cx="8911687" cy="1197735"/>
          </a:xfrm>
          <a:prstGeom prst="rect">
            <a:avLst/>
          </a:prstGeom>
          <a:noFill/>
          <a:ln>
            <a:noFill/>
          </a:ln>
        </p:spPr>
        <p:txBody>
          <a:bodyPr anchorCtr="0" anchor="t" bIns="45700" lIns="91425" spcFirstLastPara="1" rIns="91425" wrap="square" tIns="45700">
            <a:normAutofit/>
          </a:bodyPr>
          <a:lstStyle/>
          <a:p>
            <a:pPr indent="-342900" lvl="1" marL="800100" rtl="0" algn="l">
              <a:lnSpc>
                <a:spcPct val="115000"/>
              </a:lnSpc>
              <a:spcBef>
                <a:spcPts val="0"/>
              </a:spcBef>
              <a:spcAft>
                <a:spcPts val="0"/>
              </a:spcAft>
              <a:buClr>
                <a:srgbClr val="4BACC6"/>
              </a:buClr>
              <a:buSzPts val="2400"/>
              <a:buFont typeface="Noto Sans Symbols"/>
              <a:buChar char="❑"/>
            </a:pPr>
            <a:r>
              <a:rPr b="1" lang="fr-FR" sz="2400">
                <a:solidFill>
                  <a:srgbClr val="4BACC6"/>
                </a:solidFill>
                <a:latin typeface="Cambria"/>
                <a:ea typeface="Cambria"/>
                <a:cs typeface="Cambria"/>
                <a:sym typeface="Cambria"/>
              </a:rPr>
              <a:t>Les types de stress</a:t>
            </a:r>
            <a:br>
              <a:rPr b="1" lang="fr-FR" sz="2400">
                <a:solidFill>
                  <a:srgbClr val="4BACC6"/>
                </a:solidFill>
                <a:latin typeface="Cambria"/>
                <a:ea typeface="Cambria"/>
                <a:cs typeface="Cambria"/>
                <a:sym typeface="Cambria"/>
              </a:rPr>
            </a:br>
            <a:endParaRPr b="1" sz="2400"/>
          </a:p>
        </p:txBody>
      </p:sp>
      <p:sp>
        <p:nvSpPr>
          <p:cNvPr id="198" name="Google Shape;198;p5"/>
          <p:cNvSpPr txBox="1"/>
          <p:nvPr>
            <p:ph idx="1" type="body"/>
          </p:nvPr>
        </p:nvSpPr>
        <p:spPr>
          <a:xfrm>
            <a:off x="1584101" y="830688"/>
            <a:ext cx="9920511" cy="6027312"/>
          </a:xfrm>
          <a:prstGeom prst="rect">
            <a:avLst/>
          </a:prstGeom>
          <a:noFill/>
          <a:ln>
            <a:noFill/>
          </a:ln>
        </p:spPr>
        <p:txBody>
          <a:bodyPr anchorCtr="0" anchor="t" bIns="45700" lIns="91425" spcFirstLastPara="1" rIns="91425" wrap="square" tIns="45700">
            <a:normAutofit/>
          </a:bodyPr>
          <a:lstStyle/>
          <a:p>
            <a:pPr indent="-342900" lvl="0" marL="342900" rtl="0" algn="l">
              <a:lnSpc>
                <a:spcPct val="115000"/>
              </a:lnSpc>
              <a:spcBef>
                <a:spcPts val="0"/>
              </a:spcBef>
              <a:spcAft>
                <a:spcPts val="0"/>
              </a:spcAft>
              <a:buSzPts val="2000"/>
              <a:buChar char="🠶"/>
            </a:pPr>
            <a:r>
              <a:rPr lang="fr-FR" sz="2000">
                <a:solidFill>
                  <a:srgbClr val="C00000"/>
                </a:solidFill>
                <a:latin typeface="Calibri"/>
                <a:ea typeface="Calibri"/>
                <a:cs typeface="Calibri"/>
                <a:sym typeface="Calibri"/>
              </a:rPr>
              <a:t>Le stress aigu</a:t>
            </a:r>
            <a:endParaRPr sz="2000">
              <a:latin typeface="Calibri"/>
              <a:ea typeface="Calibri"/>
              <a:cs typeface="Calibri"/>
              <a:sym typeface="Calibri"/>
            </a:endParaRPr>
          </a:p>
          <a:p>
            <a:pPr indent="0" lvl="0" marL="0" rtl="0" algn="l">
              <a:lnSpc>
                <a:spcPct val="115000"/>
              </a:lnSpc>
              <a:spcBef>
                <a:spcPts val="2000"/>
              </a:spcBef>
              <a:spcAft>
                <a:spcPts val="0"/>
              </a:spcAft>
              <a:buSzPts val="1800"/>
              <a:buNone/>
            </a:pPr>
            <a:r>
              <a:rPr lang="fr-FR">
                <a:latin typeface="Calibri"/>
                <a:ea typeface="Calibri"/>
                <a:cs typeface="Calibri"/>
                <a:sym typeface="Calibri"/>
              </a:rPr>
              <a:t>     Il s’agit sans doute du type de stress le plus courant. Sa durée est limitée et il trouve son origine dans les tracasseries quotidiennes.</a:t>
            </a:r>
            <a:endParaRPr/>
          </a:p>
          <a:p>
            <a:pPr indent="0" lvl="0" marL="0" rtl="0" algn="l">
              <a:lnSpc>
                <a:spcPct val="115000"/>
              </a:lnSpc>
              <a:spcBef>
                <a:spcPts val="2000"/>
              </a:spcBef>
              <a:spcAft>
                <a:spcPts val="0"/>
              </a:spcAft>
              <a:buSzPts val="1800"/>
              <a:buNone/>
            </a:pPr>
            <a:r>
              <a:rPr lang="fr-FR">
                <a:latin typeface="Calibri"/>
                <a:ea typeface="Calibri"/>
                <a:cs typeface="Calibri"/>
                <a:sym typeface="Calibri"/>
              </a:rPr>
              <a:t>Le stress aigu reste bénéfique et n’affecte les personnes que sur le court terme. Les symptômes les plus fréquents sont les changements d’humeur, les problèmes musculaires et l’accélération du rythme cardiaque.</a:t>
            </a:r>
            <a:endParaRPr/>
          </a:p>
          <a:p>
            <a:pPr indent="-342900" lvl="0" marL="342900" rtl="0" algn="l">
              <a:lnSpc>
                <a:spcPct val="115000"/>
              </a:lnSpc>
              <a:spcBef>
                <a:spcPts val="2000"/>
              </a:spcBef>
              <a:spcAft>
                <a:spcPts val="0"/>
              </a:spcAft>
              <a:buSzPts val="2000"/>
              <a:buChar char="🠶"/>
            </a:pPr>
            <a:r>
              <a:rPr lang="fr-FR" sz="2000">
                <a:solidFill>
                  <a:srgbClr val="C00000"/>
                </a:solidFill>
                <a:latin typeface="Calibri"/>
                <a:ea typeface="Calibri"/>
                <a:cs typeface="Calibri"/>
                <a:sym typeface="Calibri"/>
              </a:rPr>
              <a:t>Le stress aigu épisodique</a:t>
            </a:r>
            <a:endParaRPr sz="2000">
              <a:latin typeface="Calibri"/>
              <a:ea typeface="Calibri"/>
              <a:cs typeface="Calibri"/>
              <a:sym typeface="Calibri"/>
            </a:endParaRPr>
          </a:p>
          <a:p>
            <a:pPr indent="0" lvl="0" marL="0" rtl="0" algn="l">
              <a:lnSpc>
                <a:spcPct val="115000"/>
              </a:lnSpc>
              <a:spcBef>
                <a:spcPts val="2000"/>
              </a:spcBef>
              <a:spcAft>
                <a:spcPts val="0"/>
              </a:spcAft>
              <a:buSzPts val="1800"/>
              <a:buNone/>
            </a:pPr>
            <a:r>
              <a:rPr lang="fr-FR">
                <a:latin typeface="Calibri"/>
                <a:ea typeface="Calibri"/>
                <a:cs typeface="Calibri"/>
                <a:sym typeface="Calibri"/>
              </a:rPr>
              <a:t>  Cependant, une répétition trop fréquente du stress aigu se révèle surmenante et peut mener à un sentiment d’anxiété, de démotivation, d’irascibilité ou de pessimisme. Le stress aigu épisodique est propre aux personnes obnubilées par leurs activités et toujours pressées d’accomplir le maximum de tâches en un minimum de temps. Une telle attitude est généralement vouée à l’échec, ce qui accentue  la tension des personnes concernées.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animEffect filter="fade" transition="in">
                                      <p:cBhvr>
                                        <p:cTn dur="1000"/>
                                        <p:tgtEl>
                                          <p:spTgt spid="1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animEffect filter="fade" transition="in">
                                      <p:cBhvr>
                                        <p:cTn dur="1000"/>
                                        <p:tgtEl>
                                          <p:spTgt spid="1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animEffect filter="fade" transition="in">
                                      <p:cBhvr>
                                        <p:cTn dur="1000"/>
                                        <p:tgtEl>
                                          <p:spTgt spid="1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animEffect filter="fade" transition="in">
                                      <p:cBhvr>
                                        <p:cTn dur="1000"/>
                                        <p:tgtEl>
                                          <p:spTgt spid="1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animEffect filter="fade" transition="in">
                                      <p:cBhvr>
                                        <p:cTn dur="1000"/>
                                        <p:tgtEl>
                                          <p:spTgt spid="19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6"/>
          <p:cNvSpPr txBox="1"/>
          <p:nvPr>
            <p:ph type="title"/>
          </p:nvPr>
        </p:nvSpPr>
        <p:spPr>
          <a:xfrm>
            <a:off x="1571223" y="231821"/>
            <a:ext cx="9933390" cy="656822"/>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rgbClr val="C00000"/>
              </a:buClr>
              <a:buSzPts val="2400"/>
              <a:buFont typeface="Calibri"/>
              <a:buNone/>
            </a:pPr>
            <a:r>
              <a:rPr lang="fr-FR" sz="2400">
                <a:solidFill>
                  <a:srgbClr val="C00000"/>
                </a:solidFill>
                <a:latin typeface="Calibri"/>
                <a:ea typeface="Calibri"/>
                <a:cs typeface="Calibri"/>
                <a:sym typeface="Calibri"/>
              </a:rPr>
              <a:t>Le stress chronique</a:t>
            </a:r>
            <a:br>
              <a:rPr lang="fr-FR" sz="2400">
                <a:latin typeface="Calibri"/>
                <a:ea typeface="Calibri"/>
                <a:cs typeface="Calibri"/>
                <a:sym typeface="Calibri"/>
              </a:rPr>
            </a:br>
            <a:endParaRPr sz="2400"/>
          </a:p>
        </p:txBody>
      </p:sp>
      <p:sp>
        <p:nvSpPr>
          <p:cNvPr id="204" name="Google Shape;204;p6"/>
          <p:cNvSpPr txBox="1"/>
          <p:nvPr>
            <p:ph idx="1" type="body"/>
          </p:nvPr>
        </p:nvSpPr>
        <p:spPr>
          <a:xfrm>
            <a:off x="1571223" y="888643"/>
            <a:ext cx="9933390" cy="5447764"/>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rgbClr val="A53010"/>
              </a:buClr>
              <a:buSzPts val="1800"/>
              <a:buNone/>
            </a:pPr>
            <a:r>
              <a:rPr lang="fr-FR">
                <a:solidFill>
                  <a:srgbClr val="3F3F3F"/>
                </a:solidFill>
                <a:latin typeface="Calibri"/>
                <a:ea typeface="Calibri"/>
                <a:cs typeface="Calibri"/>
                <a:sym typeface="Calibri"/>
              </a:rPr>
              <a:t>  Le stress chronique représente la forme de stress la plus accablante. Ses effets négatifs sur le corps et l’esprit s’intensifient au fil du temps, au point de provoquer des maladies cardiaques, des crises violentes et parfois une envie de mettre fin à ses jours. Cette forme de stress perturbe la vie quotidienne de la personne concernée et lui donne l’impression qu’aucune solution ne sera bénéfique pour améliorer sa condition.</a:t>
            </a:r>
            <a:endParaRPr/>
          </a:p>
          <a:p>
            <a:pPr indent="0" lvl="0" marL="0" rtl="0" algn="l">
              <a:lnSpc>
                <a:spcPct val="115000"/>
              </a:lnSpc>
              <a:spcBef>
                <a:spcPts val="2000"/>
              </a:spcBef>
              <a:spcAft>
                <a:spcPts val="0"/>
              </a:spcAft>
              <a:buClr>
                <a:srgbClr val="A53010"/>
              </a:buClr>
              <a:buSzPts val="2400"/>
              <a:buNone/>
            </a:pPr>
            <a:r>
              <a:rPr lang="fr-FR" sz="2400">
                <a:solidFill>
                  <a:srgbClr val="C00000"/>
                </a:solidFill>
                <a:latin typeface="Calibri"/>
                <a:ea typeface="Calibri"/>
                <a:cs typeface="Calibri"/>
                <a:sym typeface="Calibri"/>
              </a:rPr>
              <a:t>Le stress psychologique</a:t>
            </a:r>
            <a:endParaRPr sz="2400">
              <a:solidFill>
                <a:srgbClr val="3F3F3F"/>
              </a:solidFill>
              <a:latin typeface="Calibri"/>
              <a:ea typeface="Calibri"/>
              <a:cs typeface="Calibri"/>
              <a:sym typeface="Calibri"/>
            </a:endParaRPr>
          </a:p>
          <a:p>
            <a:pPr indent="0" lvl="0" marL="0" rtl="0" algn="l">
              <a:lnSpc>
                <a:spcPct val="115000"/>
              </a:lnSpc>
              <a:spcBef>
                <a:spcPts val="2000"/>
              </a:spcBef>
              <a:spcAft>
                <a:spcPts val="0"/>
              </a:spcAft>
              <a:buClr>
                <a:srgbClr val="A53010"/>
              </a:buClr>
              <a:buSzPts val="1800"/>
              <a:buNone/>
            </a:pPr>
            <a:r>
              <a:rPr lang="fr-FR">
                <a:solidFill>
                  <a:srgbClr val="3F3F3F"/>
                </a:solidFill>
                <a:latin typeface="Calibri"/>
                <a:ea typeface="Calibri"/>
                <a:cs typeface="Calibri"/>
                <a:sym typeface="Calibri"/>
              </a:rPr>
              <a:t>   Nous arrivons au type de stress qui croit à une vitesse effrénée dans notre société, à savoir le    stress psychologique. Celui-ci se concrétise par la perte de l’habileté d’une personne à répondre à une situation donnée. Notre organisme de base n’ayant pas été conçu pour gérer ce type de stress, il lui devient difficile d’évacuer ce surplus d’énergie, même via l’effort physique.</a:t>
            </a:r>
            <a:endParaRPr/>
          </a:p>
          <a:p>
            <a:pPr indent="0" lvl="0" marL="0" rtl="0" algn="l">
              <a:lnSpc>
                <a:spcPct val="115000"/>
              </a:lnSpc>
              <a:spcBef>
                <a:spcPts val="2000"/>
              </a:spcBef>
              <a:spcAft>
                <a:spcPts val="0"/>
              </a:spcAft>
              <a:buClr>
                <a:srgbClr val="A53010"/>
              </a:buClr>
              <a:buSzPts val="1800"/>
              <a:buNone/>
            </a:pPr>
            <a:r>
              <a:rPr lang="fr-FR">
                <a:solidFill>
                  <a:srgbClr val="3F3F3F"/>
                </a:solidFill>
                <a:latin typeface="Calibri"/>
                <a:ea typeface="Calibri"/>
                <a:cs typeface="Calibri"/>
                <a:sym typeface="Calibri"/>
              </a:rPr>
              <a:t>    L’anxiété chronique ou un traumatisme émotionnel grave sont les principaux symptômes de cette forme de stress. Pour retrouver le contrôle de sa vie, la recherche d’une aide extérieure devient une nécessité absolue</a:t>
            </a:r>
            <a:endParaRPr/>
          </a:p>
          <a:p>
            <a:pPr indent="0" lvl="0" marL="0" rtl="0" algn="l">
              <a:lnSpc>
                <a:spcPct val="115000"/>
              </a:lnSpc>
              <a:spcBef>
                <a:spcPts val="2000"/>
              </a:spcBef>
              <a:spcAft>
                <a:spcPts val="0"/>
              </a:spcAft>
              <a:buClr>
                <a:srgbClr val="A53010"/>
              </a:buClr>
              <a:buSzPts val="1800"/>
              <a:buNone/>
            </a:pPr>
            <a:r>
              <a:rPr lang="fr-FR">
                <a:solidFill>
                  <a:srgbClr val="3F3F3F"/>
                </a:solidFill>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Effect filter="fade" transition="in">
                                      <p:cBhvr>
                                        <p:cTn dur="1000"/>
                                        <p:tgtEl>
                                          <p:spTgt spid="2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animEffect filter="fade" transition="in">
                                      <p:cBhvr>
                                        <p:cTn dur="1000"/>
                                        <p:tgtEl>
                                          <p:spTgt spid="2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animEffect filter="fade" transition="in">
                                      <p:cBhvr>
                                        <p:cTn dur="1000"/>
                                        <p:tgtEl>
                                          <p:spTgt spid="2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animEffect filter="fade" transition="in">
                                      <p:cBhvr>
                                        <p:cTn dur="1000"/>
                                        <p:tgtEl>
                                          <p:spTgt spid="2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4" st="4"/>
                                            </p:txEl>
                                          </p:spTgt>
                                        </p:tgtEl>
                                        <p:attrNameLst>
                                          <p:attrName>style.visibility</p:attrName>
                                        </p:attrNameLst>
                                      </p:cBhvr>
                                      <p:to>
                                        <p:strVal val="visible"/>
                                      </p:to>
                                    </p:set>
                                    <p:animEffect filter="fade" transition="in">
                                      <p:cBhvr>
                                        <p:cTn dur="1000"/>
                                        <p:tgtEl>
                                          <p:spTgt spid="20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7"/>
          <p:cNvSpPr txBox="1"/>
          <p:nvPr>
            <p:ph type="title"/>
          </p:nvPr>
        </p:nvSpPr>
        <p:spPr>
          <a:xfrm>
            <a:off x="2125573" y="154546"/>
            <a:ext cx="9379039" cy="734096"/>
          </a:xfrm>
          <a:prstGeom prst="rect">
            <a:avLst/>
          </a:prstGeom>
          <a:noFill/>
          <a:ln>
            <a:noFill/>
          </a:ln>
        </p:spPr>
        <p:txBody>
          <a:bodyPr anchorCtr="0" anchor="t" bIns="45700" lIns="91425" spcFirstLastPara="1" rIns="91425" wrap="square" tIns="45700">
            <a:noAutofit/>
          </a:bodyPr>
          <a:lstStyle/>
          <a:p>
            <a:pPr indent="-342900" lvl="1" marL="800100" rtl="0" algn="l">
              <a:lnSpc>
                <a:spcPct val="115000"/>
              </a:lnSpc>
              <a:spcBef>
                <a:spcPts val="0"/>
              </a:spcBef>
              <a:spcAft>
                <a:spcPts val="0"/>
              </a:spcAft>
              <a:buClr>
                <a:srgbClr val="4BACC6"/>
              </a:buClr>
              <a:buSzPts val="2400"/>
              <a:buFont typeface="Noto Sans Symbols"/>
              <a:buChar char="❑"/>
            </a:pPr>
            <a:r>
              <a:rPr b="1" lang="fr-FR" sz="2400">
                <a:solidFill>
                  <a:srgbClr val="4BACC6"/>
                </a:solidFill>
                <a:latin typeface="Cambria"/>
                <a:ea typeface="Cambria"/>
                <a:cs typeface="Cambria"/>
                <a:sym typeface="Cambria"/>
              </a:rPr>
              <a:t>Les phases de stress</a:t>
            </a:r>
            <a:br>
              <a:rPr b="1" lang="fr-FR" sz="2400">
                <a:solidFill>
                  <a:srgbClr val="4BACC6"/>
                </a:solidFill>
                <a:latin typeface="Cambria"/>
                <a:ea typeface="Cambria"/>
                <a:cs typeface="Cambria"/>
                <a:sym typeface="Cambria"/>
              </a:rPr>
            </a:br>
            <a:endParaRPr sz="2400"/>
          </a:p>
        </p:txBody>
      </p:sp>
      <p:pic>
        <p:nvPicPr>
          <p:cNvPr descr="Image result for stress aigu" id="210" name="Google Shape;210;p7"/>
          <p:cNvPicPr preferRelativeResize="0"/>
          <p:nvPr>
            <p:ph idx="1" type="body"/>
          </p:nvPr>
        </p:nvPicPr>
        <p:blipFill rotWithShape="1">
          <a:blip r:embed="rId3">
            <a:alphaModFix/>
          </a:blip>
          <a:srcRect b="0" l="0" r="0" t="0"/>
          <a:stretch/>
        </p:blipFill>
        <p:spPr>
          <a:xfrm>
            <a:off x="2125574" y="888641"/>
            <a:ext cx="4236590" cy="3338801"/>
          </a:xfrm>
          <a:prstGeom prst="rect">
            <a:avLst/>
          </a:prstGeom>
          <a:noFill/>
          <a:ln>
            <a:noFill/>
          </a:ln>
        </p:spPr>
      </p:pic>
      <p:pic>
        <p:nvPicPr>
          <p:cNvPr id="211" name="Google Shape;211;p7"/>
          <p:cNvPicPr preferRelativeResize="0"/>
          <p:nvPr/>
        </p:nvPicPr>
        <p:blipFill rotWithShape="1">
          <a:blip r:embed="rId4">
            <a:alphaModFix/>
          </a:blip>
          <a:srcRect b="0" l="0" r="0" t="0"/>
          <a:stretch/>
        </p:blipFill>
        <p:spPr>
          <a:xfrm>
            <a:off x="6362164" y="888641"/>
            <a:ext cx="4417453" cy="3338802"/>
          </a:xfrm>
          <a:prstGeom prst="rect">
            <a:avLst/>
          </a:prstGeom>
          <a:noFill/>
          <a:ln>
            <a:noFill/>
          </a:ln>
        </p:spPr>
      </p:pic>
      <p:sp>
        <p:nvSpPr>
          <p:cNvPr id="212" name="Google Shape;212;p7"/>
          <p:cNvSpPr/>
          <p:nvPr/>
        </p:nvSpPr>
        <p:spPr>
          <a:xfrm>
            <a:off x="2125573" y="3490653"/>
            <a:ext cx="7765402" cy="357841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t/>
            </a:r>
            <a:endParaRPr sz="2000">
              <a:solidFill>
                <a:srgbClr val="C00000"/>
              </a:solidFill>
              <a:latin typeface="Calibri"/>
              <a:ea typeface="Calibri"/>
              <a:cs typeface="Calibri"/>
              <a:sym typeface="Calibri"/>
            </a:endParaRPr>
          </a:p>
          <a:p>
            <a:pPr indent="-215900" lvl="0" marL="342900" marR="0" rtl="0" algn="l">
              <a:lnSpc>
                <a:spcPct val="115000"/>
              </a:lnSpc>
              <a:spcBef>
                <a:spcPts val="1000"/>
              </a:spcBef>
              <a:spcAft>
                <a:spcPts val="0"/>
              </a:spcAft>
              <a:buClr>
                <a:schemeClr val="dk1"/>
              </a:buClr>
              <a:buSzPts val="2000"/>
              <a:buFont typeface="Noto Sans Symbols"/>
              <a:buNone/>
            </a:pPr>
            <a:r>
              <a:t/>
            </a:r>
            <a:endParaRPr sz="2000">
              <a:solidFill>
                <a:srgbClr val="C00000"/>
              </a:solidFill>
              <a:latin typeface="Calibri"/>
              <a:ea typeface="Calibri"/>
              <a:cs typeface="Calibri"/>
              <a:sym typeface="Calibri"/>
            </a:endParaRPr>
          </a:p>
          <a:p>
            <a:pPr indent="-342900" lvl="0" marL="342900" marR="0" rtl="0" algn="l">
              <a:lnSpc>
                <a:spcPct val="115000"/>
              </a:lnSpc>
              <a:spcBef>
                <a:spcPts val="1000"/>
              </a:spcBef>
              <a:spcAft>
                <a:spcPts val="0"/>
              </a:spcAft>
              <a:buClr>
                <a:srgbClr val="C00000"/>
              </a:buClr>
              <a:buSzPts val="2000"/>
              <a:buFont typeface="Noto Sans Symbols"/>
              <a:buChar char="❑"/>
            </a:pPr>
            <a:r>
              <a:rPr lang="fr-FR" sz="2000">
                <a:solidFill>
                  <a:srgbClr val="C00000"/>
                </a:solidFill>
                <a:latin typeface="Calibri"/>
                <a:ea typeface="Calibri"/>
                <a:cs typeface="Calibri"/>
                <a:sym typeface="Calibri"/>
              </a:rPr>
              <a:t>   La phase d’alarme :</a:t>
            </a:r>
            <a:endParaRPr/>
          </a:p>
          <a:p>
            <a:pPr indent="0" lvl="0" marL="0" marR="0" rtl="0" algn="l">
              <a:lnSpc>
                <a:spcPct val="115000"/>
              </a:lnSpc>
              <a:spcBef>
                <a:spcPts val="1000"/>
              </a:spcBef>
              <a:spcAft>
                <a:spcPts val="0"/>
              </a:spcAft>
              <a:buNone/>
            </a:pPr>
            <a:r>
              <a:rPr lang="fr-FR" sz="1800">
                <a:solidFill>
                  <a:schemeClr val="dk1"/>
                </a:solidFill>
                <a:latin typeface="Calibri"/>
                <a:ea typeface="Calibri"/>
                <a:cs typeface="Calibri"/>
                <a:sym typeface="Calibri"/>
              </a:rPr>
              <a:t>du stress intervient à court terme : c’est la phase primordiale d’où naissent les premières réactions physiologiques (augmentation du rythme cardiaque, mains moites, respiration plus rapide, etc.). Pensez, par exemple, à la façon dont vous vous sentez avant de donner une présentation, d’annoncer une suppression de poste ou de procéder à un congédiement. </a:t>
            </a:r>
            <a:endParaRPr/>
          </a:p>
          <a:p>
            <a:pPr indent="0" lvl="0" marL="0" marR="0" rtl="0" algn="l">
              <a:lnSpc>
                <a:spcPct val="115000"/>
              </a:lnSpc>
              <a:spcBef>
                <a:spcPts val="1000"/>
              </a:spcBef>
              <a:spcAft>
                <a:spcPts val="0"/>
              </a:spcAft>
              <a:buNone/>
            </a:pPr>
            <a:r>
              <a:rPr lang="fr-FR" sz="1800">
                <a:solidFill>
                  <a:schemeClr val="dk1"/>
                </a:solidFill>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1000"/>
                                        <p:tgtEl>
                                          <p:spTgt spid="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10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8"/>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C00000"/>
              </a:buClr>
              <a:buSzPts val="2000"/>
              <a:buFont typeface="Noto Sans Symbols"/>
              <a:buChar char="❑"/>
            </a:pPr>
            <a:r>
              <a:rPr lang="fr-FR" sz="2000">
                <a:solidFill>
                  <a:srgbClr val="C00000"/>
                </a:solidFill>
                <a:latin typeface="Calibri"/>
                <a:ea typeface="Calibri"/>
                <a:cs typeface="Calibri"/>
                <a:sym typeface="Calibri"/>
              </a:rPr>
              <a:t> la phase de résistance:</a:t>
            </a:r>
            <a:endParaRPr sz="2000"/>
          </a:p>
        </p:txBody>
      </p:sp>
      <p:sp>
        <p:nvSpPr>
          <p:cNvPr id="218" name="Google Shape;218;p8"/>
          <p:cNvSpPr txBox="1"/>
          <p:nvPr>
            <p:ph idx="1" type="body"/>
          </p:nvPr>
        </p:nvSpPr>
        <p:spPr>
          <a:xfrm>
            <a:off x="2592925" y="1264555"/>
            <a:ext cx="8126011" cy="4636214"/>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Clr>
                <a:srgbClr val="000000"/>
              </a:buClr>
              <a:buSzPts val="1800"/>
              <a:buNone/>
            </a:pPr>
            <a:r>
              <a:rPr lang="fr-FR">
                <a:solidFill>
                  <a:srgbClr val="000000"/>
                </a:solidFill>
                <a:latin typeface="Calibri"/>
                <a:ea typeface="Calibri"/>
                <a:cs typeface="Calibri"/>
                <a:sym typeface="Calibri"/>
              </a:rPr>
              <a:t>le stress persiste, le corps s’adapte et demeure en état d’alerte; il produit alors et de façon naturelle d’autres hormones qui s’ajoutent à notre arsenal de défense. Nous devenons par réflexe plus créatif et en mode solutions. Par exemple, c’est le moment de penser à contacter le programme d’aide aux employés (PAE) ou le programme d’aide aux gestionnaires (PAG). </a:t>
            </a:r>
            <a:endParaRPr/>
          </a:p>
          <a:p>
            <a:pPr indent="-342900" lvl="0" marL="342900" rtl="0" algn="l">
              <a:lnSpc>
                <a:spcPct val="115000"/>
              </a:lnSpc>
              <a:spcBef>
                <a:spcPts val="1000"/>
              </a:spcBef>
              <a:spcAft>
                <a:spcPts val="0"/>
              </a:spcAft>
              <a:buClr>
                <a:srgbClr val="000000"/>
              </a:buClr>
              <a:buSzPts val="2000"/>
              <a:buFont typeface="Noto Sans Symbols"/>
              <a:buChar char="❑"/>
            </a:pPr>
            <a:r>
              <a:rPr lang="fr-FR" sz="2000">
                <a:solidFill>
                  <a:srgbClr val="000000"/>
                </a:solidFill>
                <a:latin typeface="Calibri"/>
                <a:ea typeface="Calibri"/>
                <a:cs typeface="Calibri"/>
                <a:sym typeface="Calibri"/>
              </a:rPr>
              <a:t> </a:t>
            </a:r>
            <a:r>
              <a:rPr lang="fr-FR" sz="2000">
                <a:solidFill>
                  <a:srgbClr val="C00000"/>
                </a:solidFill>
                <a:latin typeface="Calibri"/>
                <a:ea typeface="Calibri"/>
                <a:cs typeface="Calibri"/>
                <a:sym typeface="Calibri"/>
              </a:rPr>
              <a:t>la phase d’épuisement</a:t>
            </a:r>
            <a:endParaRPr/>
          </a:p>
          <a:p>
            <a:pPr indent="0" lvl="0" marL="0" rtl="0" algn="l">
              <a:lnSpc>
                <a:spcPct val="115000"/>
              </a:lnSpc>
              <a:spcBef>
                <a:spcPts val="1000"/>
              </a:spcBef>
              <a:spcAft>
                <a:spcPts val="0"/>
              </a:spcAft>
              <a:buClr>
                <a:srgbClr val="3F3F3F"/>
              </a:buClr>
              <a:buSzPts val="2000"/>
              <a:buNone/>
            </a:pPr>
            <a:r>
              <a:t/>
            </a:r>
            <a:endParaRPr sz="2000">
              <a:solidFill>
                <a:srgbClr val="000000"/>
              </a:solidFill>
              <a:latin typeface="Calibri"/>
              <a:ea typeface="Calibri"/>
              <a:cs typeface="Calibri"/>
              <a:sym typeface="Calibri"/>
            </a:endParaRPr>
          </a:p>
          <a:p>
            <a:pPr indent="0" lvl="0" marL="0" rtl="0" algn="l">
              <a:lnSpc>
                <a:spcPct val="115000"/>
              </a:lnSpc>
              <a:spcBef>
                <a:spcPts val="1000"/>
              </a:spcBef>
              <a:spcAft>
                <a:spcPts val="0"/>
              </a:spcAft>
              <a:buClr>
                <a:srgbClr val="000000"/>
              </a:buClr>
              <a:buSzPts val="1800"/>
              <a:buNone/>
            </a:pPr>
            <a:r>
              <a:rPr lang="fr-FR">
                <a:solidFill>
                  <a:srgbClr val="000000"/>
                </a:solidFill>
                <a:latin typeface="Calibri"/>
                <a:ea typeface="Calibri"/>
                <a:cs typeface="Calibri"/>
                <a:sym typeface="Calibri"/>
              </a:rPr>
              <a:t> quand le stress devient chronique, elle apparaît lorsque la période de stress est ininterrompue, que le corps débordé n’offre plus de résistance. On ne voit plus les moyens de s’en sortir.</a:t>
            </a:r>
            <a:endParaRPr/>
          </a:p>
          <a:p>
            <a:pPr indent="-228600" lvl="0" marL="342900" rtl="0" algn="l">
              <a:spcBef>
                <a:spcPts val="2000"/>
              </a:spcBef>
              <a:spcAft>
                <a:spcPts val="0"/>
              </a:spcAft>
              <a:buSzPts val="1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animEffect filter="fade" transition="in">
                                      <p:cBhvr>
                                        <p:cTn dur="1000"/>
                                        <p:tgtEl>
                                          <p:spTgt spid="2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animEffect filter="fade" transition="in">
                                      <p:cBhvr>
                                        <p:cTn dur="1000"/>
                                        <p:tgtEl>
                                          <p:spTgt spid="2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2" st="2"/>
                                            </p:txEl>
                                          </p:spTgt>
                                        </p:tgtEl>
                                        <p:attrNameLst>
                                          <p:attrName>style.visibility</p:attrName>
                                        </p:attrNameLst>
                                      </p:cBhvr>
                                      <p:to>
                                        <p:strVal val="visible"/>
                                      </p:to>
                                    </p:set>
                                    <p:animEffect filter="fade" transition="in">
                                      <p:cBhvr>
                                        <p:cTn dur="1000"/>
                                        <p:tgtEl>
                                          <p:spTgt spid="2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3" st="3"/>
                                            </p:txEl>
                                          </p:spTgt>
                                        </p:tgtEl>
                                        <p:attrNameLst>
                                          <p:attrName>style.visibility</p:attrName>
                                        </p:attrNameLst>
                                      </p:cBhvr>
                                      <p:to>
                                        <p:strVal val="visible"/>
                                      </p:to>
                                    </p:set>
                                    <p:animEffect filter="fade" transition="in">
                                      <p:cBhvr>
                                        <p:cTn dur="1000"/>
                                        <p:tgtEl>
                                          <p:spTgt spid="2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4" st="4"/>
                                            </p:txEl>
                                          </p:spTgt>
                                        </p:tgtEl>
                                        <p:attrNameLst>
                                          <p:attrName>style.visibility</p:attrName>
                                        </p:attrNameLst>
                                      </p:cBhvr>
                                      <p:to>
                                        <p:strVal val="visible"/>
                                      </p:to>
                                    </p:set>
                                    <p:animEffect filter="fade" transition="in">
                                      <p:cBhvr>
                                        <p:cTn dur="1000"/>
                                        <p:tgtEl>
                                          <p:spTgt spid="21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9"/>
          <p:cNvSpPr txBox="1"/>
          <p:nvPr>
            <p:ph type="title"/>
          </p:nvPr>
        </p:nvSpPr>
        <p:spPr>
          <a:xfrm>
            <a:off x="2256530" y="675627"/>
            <a:ext cx="8911687" cy="947112"/>
          </a:xfrm>
          <a:prstGeom prst="rect">
            <a:avLst/>
          </a:prstGeom>
          <a:noFill/>
          <a:ln>
            <a:noFill/>
          </a:ln>
        </p:spPr>
        <p:txBody>
          <a:bodyPr anchorCtr="0" anchor="t" bIns="45700" lIns="91425" spcFirstLastPara="1" rIns="91425" wrap="square" tIns="45700">
            <a:normAutofit/>
          </a:bodyPr>
          <a:lstStyle/>
          <a:p>
            <a:pPr indent="-342900" lvl="1" marL="800100" rtl="0" algn="l">
              <a:lnSpc>
                <a:spcPct val="115000"/>
              </a:lnSpc>
              <a:spcBef>
                <a:spcPts val="0"/>
              </a:spcBef>
              <a:spcAft>
                <a:spcPts val="0"/>
              </a:spcAft>
              <a:buClr>
                <a:srgbClr val="4BACC6"/>
              </a:buClr>
              <a:buSzPts val="2400"/>
              <a:buFont typeface="Noto Sans Symbols"/>
              <a:buChar char="❑"/>
            </a:pPr>
            <a:r>
              <a:rPr b="1" lang="fr-FR" sz="2400">
                <a:solidFill>
                  <a:srgbClr val="4BACC6"/>
                </a:solidFill>
                <a:latin typeface="Cambria"/>
                <a:ea typeface="Cambria"/>
                <a:cs typeface="Cambria"/>
                <a:sym typeface="Cambria"/>
              </a:rPr>
              <a:t>Les formes de stress : </a:t>
            </a:r>
            <a:br>
              <a:rPr b="1" lang="fr-FR" sz="2400">
                <a:solidFill>
                  <a:srgbClr val="4BACC6"/>
                </a:solidFill>
                <a:latin typeface="Cambria"/>
                <a:ea typeface="Cambria"/>
                <a:cs typeface="Cambria"/>
                <a:sym typeface="Cambria"/>
              </a:rPr>
            </a:br>
            <a:endParaRPr sz="2400"/>
          </a:p>
        </p:txBody>
      </p:sp>
      <p:sp>
        <p:nvSpPr>
          <p:cNvPr id="224" name="Google Shape;224;p9"/>
          <p:cNvSpPr txBox="1"/>
          <p:nvPr>
            <p:ph idx="1" type="body"/>
          </p:nvPr>
        </p:nvSpPr>
        <p:spPr>
          <a:xfrm>
            <a:off x="2549031" y="1622739"/>
            <a:ext cx="8915400" cy="4880912"/>
          </a:xfrm>
          <a:prstGeom prst="rect">
            <a:avLst/>
          </a:prstGeom>
          <a:noFill/>
          <a:ln>
            <a:noFill/>
          </a:ln>
        </p:spPr>
        <p:txBody>
          <a:bodyPr anchorCtr="0" anchor="t" bIns="45700" lIns="91425" spcFirstLastPara="1" rIns="91425" wrap="square" tIns="45700">
            <a:normAutofit/>
          </a:bodyPr>
          <a:lstStyle/>
          <a:p>
            <a:pPr indent="-342900" lvl="0" marL="342900" rtl="0" algn="l">
              <a:lnSpc>
                <a:spcPct val="115000"/>
              </a:lnSpc>
              <a:spcBef>
                <a:spcPts val="0"/>
              </a:spcBef>
              <a:spcAft>
                <a:spcPts val="0"/>
              </a:spcAft>
              <a:buSzPts val="2000"/>
              <a:buChar char="🠶"/>
            </a:pPr>
            <a:r>
              <a:rPr lang="fr-FR" sz="2000">
                <a:solidFill>
                  <a:srgbClr val="A65E11"/>
                </a:solidFill>
                <a:latin typeface="Calibri"/>
                <a:ea typeface="Calibri"/>
                <a:cs typeface="Calibri"/>
                <a:sym typeface="Calibri"/>
              </a:rPr>
              <a:t>Stress positif :  </a:t>
            </a:r>
            <a:endParaRPr/>
          </a:p>
          <a:p>
            <a:pPr indent="0" lvl="0" marL="0" rtl="0" algn="l">
              <a:lnSpc>
                <a:spcPct val="115000"/>
              </a:lnSpc>
              <a:spcBef>
                <a:spcPts val="2000"/>
              </a:spcBef>
              <a:spcAft>
                <a:spcPts val="0"/>
              </a:spcAft>
              <a:buSzPts val="1800"/>
              <a:buNone/>
            </a:pPr>
            <a:r>
              <a:rPr lang="fr-FR" u="sng">
                <a:latin typeface="Calibri"/>
                <a:ea typeface="Calibri"/>
                <a:cs typeface="Calibri"/>
                <a:sym typeface="Calibri"/>
              </a:rPr>
              <a:t>Le stress positif « eustress »: </a:t>
            </a:r>
            <a:r>
              <a:rPr lang="fr-FR">
                <a:latin typeface="Calibri"/>
                <a:ea typeface="Calibri"/>
                <a:cs typeface="Calibri"/>
                <a:sym typeface="Calibri"/>
              </a:rPr>
              <a:t>tous ce qui fait plaisir, tous ce qu’on accepte de faire en harmonie avec soi.  </a:t>
            </a:r>
            <a:endParaRPr/>
          </a:p>
          <a:p>
            <a:pPr indent="-342900" lvl="0" marL="342900" rtl="0" algn="l">
              <a:lnSpc>
                <a:spcPct val="115000"/>
              </a:lnSpc>
              <a:spcBef>
                <a:spcPts val="2000"/>
              </a:spcBef>
              <a:spcAft>
                <a:spcPts val="0"/>
              </a:spcAft>
              <a:buSzPts val="2000"/>
              <a:buChar char="🠶"/>
            </a:pPr>
            <a:r>
              <a:rPr lang="fr-FR" sz="2000">
                <a:solidFill>
                  <a:srgbClr val="A65E11"/>
                </a:solidFill>
                <a:latin typeface="Calibri"/>
                <a:ea typeface="Calibri"/>
                <a:cs typeface="Calibri"/>
                <a:sym typeface="Calibri"/>
              </a:rPr>
              <a:t>Stress négatif :</a:t>
            </a:r>
            <a:endParaRPr/>
          </a:p>
          <a:p>
            <a:pPr indent="0" lvl="0" marL="0" rtl="0" algn="l">
              <a:lnSpc>
                <a:spcPct val="115000"/>
              </a:lnSpc>
              <a:spcBef>
                <a:spcPts val="2000"/>
              </a:spcBef>
              <a:spcAft>
                <a:spcPts val="0"/>
              </a:spcAft>
              <a:buSzPts val="1800"/>
              <a:buNone/>
            </a:pPr>
            <a:r>
              <a:rPr lang="fr-FR">
                <a:latin typeface="Calibri"/>
                <a:ea typeface="Calibri"/>
                <a:cs typeface="Calibri"/>
                <a:sym typeface="Calibri"/>
              </a:rPr>
              <a:t> </a:t>
            </a:r>
            <a:r>
              <a:rPr lang="fr-FR" u="sng">
                <a:latin typeface="Calibri"/>
                <a:ea typeface="Calibri"/>
                <a:cs typeface="Calibri"/>
                <a:sym typeface="Calibri"/>
              </a:rPr>
              <a:t>Le stress négatif « distress » : </a:t>
            </a:r>
            <a:r>
              <a:rPr lang="fr-FR">
                <a:latin typeface="Calibri"/>
                <a:ea typeface="Calibri"/>
                <a:cs typeface="Calibri"/>
                <a:sym typeface="Calibri"/>
              </a:rPr>
              <a:t>c’est tous qui déplait, tous ce que l’on fait en contradiction avec soi-même.</a:t>
            </a:r>
            <a:endParaRPr/>
          </a:p>
          <a:p>
            <a:pPr indent="0" lvl="0" marL="0" rtl="0" algn="l">
              <a:spcBef>
                <a:spcPts val="2000"/>
              </a:spcBef>
              <a:spcAft>
                <a:spcPts val="0"/>
              </a:spcAft>
              <a:buSzPts val="1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1000"/>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1000"/>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1000"/>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1000"/>
                                        <p:tgtEl>
                                          <p:spTgt spid="2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Effect filter="fade" transition="in">
                                      <p:cBhvr>
                                        <p:cTn dur="1000"/>
                                        <p:tgtEl>
                                          <p:spTgt spid="22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0"/>
          <p:cNvSpPr txBox="1"/>
          <p:nvPr>
            <p:ph type="title"/>
          </p:nvPr>
        </p:nvSpPr>
        <p:spPr>
          <a:xfrm>
            <a:off x="1737360" y="261257"/>
            <a:ext cx="7276011" cy="8229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EFB16F"/>
              </a:buClr>
              <a:buSzPts val="2800"/>
              <a:buFont typeface="Century Gothic"/>
              <a:buNone/>
            </a:pPr>
            <a:r>
              <a:rPr b="1" lang="fr-FR" sz="2800" u="sng">
                <a:solidFill>
                  <a:srgbClr val="EFB16F"/>
                </a:solidFill>
              </a:rPr>
              <a:t>Les symptômes et les maladies du stress</a:t>
            </a:r>
            <a:endParaRPr sz="2800">
              <a:solidFill>
                <a:srgbClr val="EFB16F"/>
              </a:solidFill>
            </a:endParaRPr>
          </a:p>
        </p:txBody>
      </p:sp>
      <p:sp>
        <p:nvSpPr>
          <p:cNvPr id="230" name="Google Shape;230;p10"/>
          <p:cNvSpPr txBox="1"/>
          <p:nvPr>
            <p:ph idx="1" type="body"/>
          </p:nvPr>
        </p:nvSpPr>
        <p:spPr>
          <a:xfrm>
            <a:off x="1280163" y="1084217"/>
            <a:ext cx="9927768" cy="5408023"/>
          </a:xfrm>
          <a:prstGeom prst="rect">
            <a:avLst/>
          </a:prstGeom>
          <a:noFill/>
          <a:ln>
            <a:noFill/>
          </a:ln>
        </p:spPr>
        <p:txBody>
          <a:bodyPr anchorCtr="0" anchor="t" bIns="45700" lIns="91425" spcFirstLastPara="1" rIns="91425" wrap="square" tIns="45700">
            <a:normAutofit fontScale="85000" lnSpcReduction="10000"/>
          </a:bodyPr>
          <a:lstStyle/>
          <a:p>
            <a:pPr indent="-514350" lvl="0" marL="514350" rtl="0" algn="l">
              <a:lnSpc>
                <a:spcPct val="150000"/>
              </a:lnSpc>
              <a:spcBef>
                <a:spcPts val="0"/>
              </a:spcBef>
              <a:spcAft>
                <a:spcPts val="0"/>
              </a:spcAft>
              <a:buSzPct val="100000"/>
              <a:buNone/>
            </a:pPr>
            <a:r>
              <a:rPr b="1" lang="fr-FR" sz="2800">
                <a:solidFill>
                  <a:srgbClr val="00B0F0"/>
                </a:solidFill>
              </a:rPr>
              <a:t> 1.Signes et symptômes du stress: </a:t>
            </a:r>
            <a:endParaRPr/>
          </a:p>
          <a:p>
            <a:pPr indent="-342900" lvl="0" marL="342900" rtl="0" algn="l">
              <a:lnSpc>
                <a:spcPct val="150000"/>
              </a:lnSpc>
              <a:spcBef>
                <a:spcPts val="1000"/>
              </a:spcBef>
              <a:spcAft>
                <a:spcPts val="0"/>
              </a:spcAft>
              <a:buSzPct val="100000"/>
              <a:buNone/>
            </a:pPr>
            <a:r>
              <a:rPr lang="fr-FR"/>
              <a:t>Le stress peut se manifester à la fois par des signes et des symptômes émotionnels, mentaux et physiques.</a:t>
            </a:r>
            <a:endParaRPr/>
          </a:p>
          <a:p>
            <a:pPr indent="-342900" lvl="0" marL="342900" rtl="0" algn="l">
              <a:lnSpc>
                <a:spcPct val="150000"/>
              </a:lnSpc>
              <a:spcBef>
                <a:spcPts val="1000"/>
              </a:spcBef>
              <a:spcAft>
                <a:spcPts val="0"/>
              </a:spcAft>
              <a:buSzPct val="100000"/>
              <a:buNone/>
            </a:pPr>
            <a:r>
              <a:rPr lang="fr-FR"/>
              <a:t>Émotionnellement, une personne stressée peut se trouver surmenée, irritable, anxieuse, angoissée ou encore perdre l'estime d'elle-même.</a:t>
            </a:r>
            <a:endParaRPr/>
          </a:p>
          <a:p>
            <a:pPr indent="-342900" lvl="0" marL="342900" rtl="0" algn="l">
              <a:lnSpc>
                <a:spcPct val="150000"/>
              </a:lnSpc>
              <a:spcBef>
                <a:spcPts val="1000"/>
              </a:spcBef>
              <a:spcAft>
                <a:spcPts val="0"/>
              </a:spcAft>
              <a:buSzPct val="100000"/>
              <a:buNone/>
            </a:pPr>
            <a:r>
              <a:rPr lang="fr-FR"/>
              <a:t>Mentalement, les signes peuvent s'apparenter à un abus de pensées, à un état d'inquiétude constant, à des difficultés de concentration ou encore à des difficultés de prendre des décisions et à faire des choix.</a:t>
            </a:r>
            <a:endParaRPr/>
          </a:p>
          <a:p>
            <a:pPr indent="-342900" lvl="0" marL="342900" rtl="0" algn="l">
              <a:lnSpc>
                <a:spcPct val="150000"/>
              </a:lnSpc>
              <a:spcBef>
                <a:spcPts val="1000"/>
              </a:spcBef>
              <a:spcAft>
                <a:spcPts val="0"/>
              </a:spcAft>
              <a:buSzPct val="100000"/>
              <a:buNone/>
            </a:pPr>
            <a:r>
              <a:rPr lang="fr-FR"/>
              <a:t>Les symptômes physiques liés au stress sont tels que des maux de tête, des douleurs musculaires, des </a:t>
            </a:r>
            <a:r>
              <a:rPr lang="fr-FR" u="sng">
                <a:solidFill>
                  <a:schemeClr val="hlink"/>
                </a:solidFill>
                <a:hlinkClick r:id="rId3"/>
              </a:rPr>
              <a:t>vertiges,</a:t>
            </a:r>
            <a:r>
              <a:rPr lang="fr-FR"/>
              <a:t> des nausées, des troubles du sommeil, une fatigue intense ou encore des troubles de l'alimentation.</a:t>
            </a:r>
            <a:endParaRPr/>
          </a:p>
          <a:p>
            <a:pPr indent="-342900" lvl="0" marL="342900" rtl="0" algn="l">
              <a:lnSpc>
                <a:spcPct val="150000"/>
              </a:lnSpc>
              <a:spcBef>
                <a:spcPts val="1000"/>
              </a:spcBef>
              <a:spcAft>
                <a:spcPts val="0"/>
              </a:spcAft>
              <a:buSzPct val="100000"/>
              <a:buNone/>
            </a:pPr>
            <a:r>
              <a:rPr lang="fr-FR"/>
              <a:t>D'autres conséquences peuvent être associées à un état de stress chronique : l'alcool et le tabac, une augmentation des gestes et des comportements violents ou encore l'éviction des relations sociales.</a:t>
            </a:r>
            <a:endParaRPr/>
          </a:p>
          <a:p>
            <a:pPr indent="-342900" lvl="0" marL="342900" rtl="0" algn="l">
              <a:lnSpc>
                <a:spcPct val="150000"/>
              </a:lnSpc>
              <a:spcBef>
                <a:spcPts val="1000"/>
              </a:spcBef>
              <a:spcAft>
                <a:spcPts val="0"/>
              </a:spcAft>
              <a:buSzPct val="100000"/>
              <a:buNone/>
            </a:pPr>
            <a:r>
              <a:rPr lang="fr-FR"/>
              <a:t>En ce sens, le stress chronique n'est pas à négliger et se doit d'être identifié et soigné le plus tôt possible.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animEffect filter="fade" transition="in">
                                      <p:cBhvr>
                                        <p:cTn dur="1000"/>
                                        <p:tgtEl>
                                          <p:spTgt spid="2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animEffect filter="fade" transition="in">
                                      <p:cBhvr>
                                        <p:cTn dur="1000"/>
                                        <p:tgtEl>
                                          <p:spTgt spid="2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animEffect filter="fade" transition="in">
                                      <p:cBhvr>
                                        <p:cTn dur="1000"/>
                                        <p:tgtEl>
                                          <p:spTgt spid="2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animEffect filter="fade" transition="in">
                                      <p:cBhvr>
                                        <p:cTn dur="1000"/>
                                        <p:tgtEl>
                                          <p:spTgt spid="2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4" st="4"/>
                                            </p:txEl>
                                          </p:spTgt>
                                        </p:tgtEl>
                                        <p:attrNameLst>
                                          <p:attrName>style.visibility</p:attrName>
                                        </p:attrNameLst>
                                      </p:cBhvr>
                                      <p:to>
                                        <p:strVal val="visible"/>
                                      </p:to>
                                    </p:set>
                                    <p:animEffect filter="fade" transition="in">
                                      <p:cBhvr>
                                        <p:cTn dur="1000"/>
                                        <p:tgtEl>
                                          <p:spTgt spid="2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5" st="5"/>
                                            </p:txEl>
                                          </p:spTgt>
                                        </p:tgtEl>
                                        <p:attrNameLst>
                                          <p:attrName>style.visibility</p:attrName>
                                        </p:attrNameLst>
                                      </p:cBhvr>
                                      <p:to>
                                        <p:strVal val="visible"/>
                                      </p:to>
                                    </p:set>
                                    <p:animEffect filter="fade" transition="in">
                                      <p:cBhvr>
                                        <p:cTn dur="1000"/>
                                        <p:tgtEl>
                                          <p:spTgt spid="2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6" st="6"/>
                                            </p:txEl>
                                          </p:spTgt>
                                        </p:tgtEl>
                                        <p:attrNameLst>
                                          <p:attrName>style.visibility</p:attrName>
                                        </p:attrNameLst>
                                      </p:cBhvr>
                                      <p:to>
                                        <p:strVal val="visible"/>
                                      </p:to>
                                    </p:set>
                                    <p:animEffect filter="fade" transition="in">
                                      <p:cBhvr>
                                        <p:cTn dur="1000"/>
                                        <p:tgtEl>
                                          <p:spTgt spid="23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1"/>
          <p:cNvSpPr txBox="1"/>
          <p:nvPr>
            <p:ph type="title"/>
          </p:nvPr>
        </p:nvSpPr>
        <p:spPr>
          <a:xfrm>
            <a:off x="2690949" y="1502228"/>
            <a:ext cx="6413864" cy="90133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1B7AF"/>
              </a:buClr>
              <a:buSzPts val="2400"/>
              <a:buFont typeface="Century Gothic"/>
              <a:buNone/>
            </a:pPr>
            <a:r>
              <a:rPr b="1" lang="fr-FR" sz="2400" u="sng">
                <a:solidFill>
                  <a:srgbClr val="11B7AF"/>
                </a:solidFill>
              </a:rPr>
              <a:t>2.les maladies du stress:</a:t>
            </a:r>
            <a:endParaRPr sz="2400">
              <a:solidFill>
                <a:srgbClr val="11B7AF"/>
              </a:solidFill>
            </a:endParaRPr>
          </a:p>
        </p:txBody>
      </p:sp>
      <p:sp>
        <p:nvSpPr>
          <p:cNvPr id="236" name="Google Shape;236;p11"/>
          <p:cNvSpPr txBox="1"/>
          <p:nvPr>
            <p:ph idx="1" type="body"/>
          </p:nvPr>
        </p:nvSpPr>
        <p:spPr>
          <a:xfrm>
            <a:off x="1632857" y="2390504"/>
            <a:ext cx="8869680" cy="2743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00"/>
              <a:buChar char="🠶"/>
            </a:pPr>
            <a:r>
              <a:rPr lang="fr-FR" sz="2000">
                <a:solidFill>
                  <a:srgbClr val="7030A0"/>
                </a:solidFill>
              </a:rPr>
              <a:t>a/ Les maladies   psychosomatiques</a:t>
            </a:r>
            <a:endParaRPr/>
          </a:p>
          <a:p>
            <a:pPr indent="-342900" lvl="0" marL="342900" rtl="0" algn="l">
              <a:lnSpc>
                <a:spcPct val="150000"/>
              </a:lnSpc>
              <a:spcBef>
                <a:spcPts val="1000"/>
              </a:spcBef>
              <a:spcAft>
                <a:spcPts val="0"/>
              </a:spcAft>
              <a:buSzPts val="1800"/>
              <a:buNone/>
            </a:pPr>
            <a:r>
              <a:rPr lang="fr-FR"/>
              <a:t>Les maladies psychosomatiques se caractérisent par des symptômes</a:t>
            </a:r>
            <a:endParaRPr/>
          </a:p>
          <a:p>
            <a:pPr indent="-342900" lvl="0" marL="342900" rtl="0" algn="l">
              <a:lnSpc>
                <a:spcPct val="150000"/>
              </a:lnSpc>
              <a:spcBef>
                <a:spcPts val="1000"/>
              </a:spcBef>
              <a:spcAft>
                <a:spcPts val="0"/>
              </a:spcAft>
              <a:buSzPts val="1800"/>
              <a:buNone/>
            </a:pPr>
            <a:r>
              <a:rPr lang="fr-FR"/>
              <a:t>physiques qui affectent un organe  ou un système physiologique et</a:t>
            </a:r>
            <a:endParaRPr/>
          </a:p>
          <a:p>
            <a:pPr indent="-342900" lvl="0" marL="342900" rtl="0" algn="l">
              <a:lnSpc>
                <a:spcPct val="150000"/>
              </a:lnSpc>
              <a:spcBef>
                <a:spcPts val="1000"/>
              </a:spcBef>
              <a:spcAft>
                <a:spcPts val="0"/>
              </a:spcAft>
              <a:buSzPts val="1800"/>
              <a:buNone/>
            </a:pPr>
            <a:r>
              <a:rPr lang="fr-FR"/>
              <a:t>dont les causes sont principalement émotionnelles.</a:t>
            </a:r>
            <a:endParaRPr/>
          </a:p>
          <a:p>
            <a:pPr indent="-215900" lvl="0" marL="342900" rtl="0" algn="l">
              <a:spcBef>
                <a:spcPts val="1000"/>
              </a:spcBef>
              <a:spcAft>
                <a:spcPts val="0"/>
              </a:spcAft>
              <a:buSzPts val="2000"/>
              <a:buNone/>
            </a:pPr>
            <a:r>
              <a:t/>
            </a:r>
            <a:endParaRPr sz="2000">
              <a:solidFill>
                <a:srgbClr val="7030A0"/>
              </a:solidFill>
            </a:endParaRPr>
          </a:p>
        </p:txBody>
      </p:sp>
      <p:pic>
        <p:nvPicPr>
          <p:cNvPr id="237" name="Google Shape;237;p11"/>
          <p:cNvPicPr preferRelativeResize="0"/>
          <p:nvPr/>
        </p:nvPicPr>
        <p:blipFill rotWithShape="1">
          <a:blip r:embed="rId3">
            <a:alphaModFix/>
          </a:blip>
          <a:srcRect b="0" l="0" r="0" t="0"/>
          <a:stretch/>
        </p:blipFill>
        <p:spPr>
          <a:xfrm>
            <a:off x="285718" y="111076"/>
            <a:ext cx="3292368" cy="1709531"/>
          </a:xfrm>
          <a:prstGeom prst="ellipse">
            <a:avLst/>
          </a:prstGeom>
          <a:noFill/>
          <a:ln>
            <a:noFill/>
          </a:ln>
        </p:spPr>
      </p:pic>
      <p:pic>
        <p:nvPicPr>
          <p:cNvPr id="238" name="Google Shape;238;p11"/>
          <p:cNvPicPr preferRelativeResize="0"/>
          <p:nvPr/>
        </p:nvPicPr>
        <p:blipFill rotWithShape="1">
          <a:blip r:embed="rId4">
            <a:alphaModFix/>
          </a:blip>
          <a:srcRect b="0" l="0" r="0" t="0"/>
          <a:stretch/>
        </p:blipFill>
        <p:spPr>
          <a:xfrm>
            <a:off x="9604526" y="4974190"/>
            <a:ext cx="1797332" cy="1584176"/>
          </a:xfrm>
          <a:prstGeom prst="rect">
            <a:avLst/>
          </a:prstGeom>
          <a:noFill/>
          <a:ln>
            <a:noFill/>
          </a:ln>
        </p:spPr>
      </p:pic>
      <p:pic>
        <p:nvPicPr>
          <p:cNvPr id="239" name="Google Shape;239;p11"/>
          <p:cNvPicPr preferRelativeResize="0"/>
          <p:nvPr/>
        </p:nvPicPr>
        <p:blipFill rotWithShape="1">
          <a:blip r:embed="rId5">
            <a:alphaModFix/>
          </a:blip>
          <a:srcRect b="0" l="0" r="0" t="0"/>
          <a:stretch/>
        </p:blipFill>
        <p:spPr>
          <a:xfrm>
            <a:off x="7254429" y="5130945"/>
            <a:ext cx="1872208" cy="146293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ppt_w</p:attrName>
                                        </p:attrNameLst>
                                      </p:cBhvr>
                                      <p:tavLst>
                                        <p:tav fmla="" tm="0">
                                          <p:val>
                                            <p:strVal val="0"/>
                                          </p:val>
                                        </p:tav>
                                        <p:tav fmla="" tm="100000">
                                          <p:val>
                                            <p:strVal val="#ppt_w"/>
                                          </p:val>
                                        </p:tav>
                                      </p:tavLst>
                                    </p:anim>
                                    <p:anim calcmode="lin" valueType="num">
                                      <p:cBhvr additive="base">
                                        <p:cTn dur="500"/>
                                        <p:tgtEl>
                                          <p:spTgt spid="23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9"/>
                                        </p:tgtEl>
                                        <p:attrNameLst>
                                          <p:attrName>style.visibility</p:attrName>
                                        </p:attrNameLst>
                                      </p:cBhvr>
                                      <p:to>
                                        <p:strVal val="visible"/>
                                      </p:to>
                                    </p:set>
                                    <p:anim calcmode="lin" valueType="num">
                                      <p:cBhvr additive="base">
                                        <p:cTn dur="500"/>
                                        <p:tgtEl>
                                          <p:spTgt spid="239"/>
                                        </p:tgtEl>
                                        <p:attrNameLst>
                                          <p:attrName>ppt_w</p:attrName>
                                        </p:attrNameLst>
                                      </p:cBhvr>
                                      <p:tavLst>
                                        <p:tav fmla="" tm="0">
                                          <p:val>
                                            <p:strVal val="0"/>
                                          </p:val>
                                        </p:tav>
                                        <p:tav fmla="" tm="100000">
                                          <p:val>
                                            <p:strVal val="#ppt_w"/>
                                          </p:val>
                                        </p:tav>
                                      </p:tavLst>
                                    </p:anim>
                                    <p:anim calcmode="lin" valueType="num">
                                      <p:cBhvr additive="base">
                                        <p:cTn dur="500"/>
                                        <p:tgtEl>
                                          <p:spTgt spid="23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ppt_w</p:attrName>
                                        </p:attrNameLst>
                                      </p:cBhvr>
                                      <p:tavLst>
                                        <p:tav fmla="" tm="0">
                                          <p:val>
                                            <p:strVal val="0"/>
                                          </p:val>
                                        </p:tav>
                                        <p:tav fmla="" tm="100000">
                                          <p:val>
                                            <p:strVal val="#ppt_w"/>
                                          </p:val>
                                        </p:tav>
                                      </p:tavLst>
                                    </p:anim>
                                    <p:anim calcmode="lin" valueType="num">
                                      <p:cBhvr additive="base">
                                        <p:cTn dur="500"/>
                                        <p:tgtEl>
                                          <p:spTgt spid="23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animEffect filter="fade" transition="in">
                                      <p:cBhvr>
                                        <p:cTn dur="1000"/>
                                        <p:tgtEl>
                                          <p:spTgt spid="2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1" st="1"/>
                                            </p:txEl>
                                          </p:spTgt>
                                        </p:tgtEl>
                                        <p:attrNameLst>
                                          <p:attrName>style.visibility</p:attrName>
                                        </p:attrNameLst>
                                      </p:cBhvr>
                                      <p:to>
                                        <p:strVal val="visible"/>
                                      </p:to>
                                    </p:set>
                                    <p:animEffect filter="fade" transition="in">
                                      <p:cBhvr>
                                        <p:cTn dur="1000"/>
                                        <p:tgtEl>
                                          <p:spTgt spid="2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2" st="2"/>
                                            </p:txEl>
                                          </p:spTgt>
                                        </p:tgtEl>
                                        <p:attrNameLst>
                                          <p:attrName>style.visibility</p:attrName>
                                        </p:attrNameLst>
                                      </p:cBhvr>
                                      <p:to>
                                        <p:strVal val="visible"/>
                                      </p:to>
                                    </p:set>
                                    <p:animEffect filter="fade" transition="in">
                                      <p:cBhvr>
                                        <p:cTn dur="1000"/>
                                        <p:tgtEl>
                                          <p:spTgt spid="2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3" st="3"/>
                                            </p:txEl>
                                          </p:spTgt>
                                        </p:tgtEl>
                                        <p:attrNameLst>
                                          <p:attrName>style.visibility</p:attrName>
                                        </p:attrNameLst>
                                      </p:cBhvr>
                                      <p:to>
                                        <p:strVal val="visible"/>
                                      </p:to>
                                    </p:set>
                                    <p:animEffect filter="fade" transition="in">
                                      <p:cBhvr>
                                        <p:cTn dur="1000"/>
                                        <p:tgtEl>
                                          <p:spTgt spid="2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4" st="4"/>
                                            </p:txEl>
                                          </p:spTgt>
                                        </p:tgtEl>
                                        <p:attrNameLst>
                                          <p:attrName>style.visibility</p:attrName>
                                        </p:attrNameLst>
                                      </p:cBhvr>
                                      <p:to>
                                        <p:strVal val="visible"/>
                                      </p:to>
                                    </p:set>
                                    <p:animEffect filter="fade" transition="in">
                                      <p:cBhvr>
                                        <p:cTn dur="1000"/>
                                        <p:tgtEl>
                                          <p:spTgt spid="23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2"/>
          <p:cNvSpPr txBox="1"/>
          <p:nvPr>
            <p:ph type="title"/>
          </p:nvPr>
        </p:nvSpPr>
        <p:spPr>
          <a:xfrm>
            <a:off x="2037806" y="836023"/>
            <a:ext cx="5891349" cy="61395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1B7AF"/>
              </a:buClr>
              <a:buSzPts val="2400"/>
              <a:buFont typeface="Century Gothic"/>
              <a:buNone/>
            </a:pPr>
            <a:r>
              <a:rPr lang="fr-FR" sz="2400">
                <a:solidFill>
                  <a:srgbClr val="11B7AF"/>
                </a:solidFill>
              </a:rPr>
              <a:t>b/ Les maladies psycho émotionnelles:</a:t>
            </a:r>
            <a:endParaRPr/>
          </a:p>
        </p:txBody>
      </p:sp>
      <p:pic>
        <p:nvPicPr>
          <p:cNvPr id="245" name="Google Shape;245;p12"/>
          <p:cNvPicPr preferRelativeResize="0"/>
          <p:nvPr/>
        </p:nvPicPr>
        <p:blipFill rotWithShape="1">
          <a:blip r:embed="rId3">
            <a:alphaModFix/>
          </a:blip>
          <a:srcRect b="0" l="0" r="0" t="0"/>
          <a:stretch/>
        </p:blipFill>
        <p:spPr>
          <a:xfrm rot="-1494663">
            <a:off x="1292298" y="4436009"/>
            <a:ext cx="2189831" cy="1911852"/>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pic>
        <p:nvPicPr>
          <p:cNvPr id="246" name="Google Shape;246;p12"/>
          <p:cNvPicPr preferRelativeResize="0"/>
          <p:nvPr/>
        </p:nvPicPr>
        <p:blipFill rotWithShape="1">
          <a:blip r:embed="rId4">
            <a:alphaModFix/>
          </a:blip>
          <a:srcRect b="0" l="0" r="0" t="0"/>
          <a:stretch/>
        </p:blipFill>
        <p:spPr>
          <a:xfrm rot="569528">
            <a:off x="6821518" y="1492978"/>
            <a:ext cx="2399011" cy="1761532"/>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pic>
        <p:nvPicPr>
          <p:cNvPr id="247" name="Google Shape;247;p12"/>
          <p:cNvPicPr preferRelativeResize="0"/>
          <p:nvPr/>
        </p:nvPicPr>
        <p:blipFill rotWithShape="1">
          <a:blip r:embed="rId5">
            <a:alphaModFix/>
          </a:blip>
          <a:srcRect b="0" l="0" r="0" t="0"/>
          <a:stretch/>
        </p:blipFill>
        <p:spPr>
          <a:xfrm>
            <a:off x="4107648" y="3283660"/>
            <a:ext cx="2093844" cy="1560190"/>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pic>
        <p:nvPicPr>
          <p:cNvPr id="248" name="Google Shape;248;p12"/>
          <p:cNvPicPr preferRelativeResize="0"/>
          <p:nvPr/>
        </p:nvPicPr>
        <p:blipFill rotWithShape="1">
          <a:blip r:embed="rId6">
            <a:alphaModFix/>
          </a:blip>
          <a:srcRect b="0" l="0" r="0" t="0"/>
          <a:stretch/>
        </p:blipFill>
        <p:spPr>
          <a:xfrm rot="556724">
            <a:off x="6681200" y="4862007"/>
            <a:ext cx="2234339" cy="1686233"/>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pic>
        <p:nvPicPr>
          <p:cNvPr id="249" name="Google Shape;249;p12"/>
          <p:cNvPicPr preferRelativeResize="0"/>
          <p:nvPr/>
        </p:nvPicPr>
        <p:blipFill rotWithShape="1">
          <a:blip r:embed="rId7">
            <a:alphaModFix/>
          </a:blip>
          <a:srcRect b="0" l="0" r="0" t="0"/>
          <a:stretch/>
        </p:blipFill>
        <p:spPr>
          <a:xfrm rot="-1302841">
            <a:off x="1449734" y="1526552"/>
            <a:ext cx="2144609" cy="1694384"/>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500"/>
                                        <p:tgtEl>
                                          <p:spTgt spid="247"/>
                                        </p:tgtEl>
                                        <p:attrNameLst>
                                          <p:attrName>ppt_w</p:attrName>
                                        </p:attrNameLst>
                                      </p:cBhvr>
                                      <p:tavLst>
                                        <p:tav fmla="" tm="0">
                                          <p:val>
                                            <p:strVal val="0"/>
                                          </p:val>
                                        </p:tav>
                                        <p:tav fmla="" tm="100000">
                                          <p:val>
                                            <p:strVal val="#ppt_w"/>
                                          </p:val>
                                        </p:tav>
                                      </p:tavLst>
                                    </p:anim>
                                    <p:anim calcmode="lin" valueType="num">
                                      <p:cBhvr additive="base">
                                        <p:cTn dur="500"/>
                                        <p:tgtEl>
                                          <p:spTgt spid="24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20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2000"/>
                                        <p:tgtEl>
                                          <p:spTgt spid="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20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3"/>
          <p:cNvSpPr txBox="1"/>
          <p:nvPr>
            <p:ph idx="1" type="body"/>
          </p:nvPr>
        </p:nvSpPr>
        <p:spPr>
          <a:xfrm>
            <a:off x="2266122" y="1258957"/>
            <a:ext cx="9238490" cy="465226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fr-FR"/>
              <a:t>LA PANIQUE peut provoquer des diarrhées.</a:t>
            </a:r>
            <a:endParaRPr/>
          </a:p>
          <a:p>
            <a:pPr indent="-342900" lvl="0" marL="342900" rtl="0" algn="l">
              <a:spcBef>
                <a:spcPts val="1000"/>
              </a:spcBef>
              <a:spcAft>
                <a:spcPts val="0"/>
              </a:spcAft>
              <a:buSzPts val="1800"/>
              <a:buChar char="🠶"/>
            </a:pPr>
            <a:r>
              <a:rPr lang="fr-FR"/>
              <a:t>LA COLÈRE retenue,</a:t>
            </a:r>
            <a:endParaRPr/>
          </a:p>
          <a:p>
            <a:pPr indent="-342900" lvl="0" marL="342900" rtl="0" algn="l">
              <a:spcBef>
                <a:spcPts val="1000"/>
              </a:spcBef>
              <a:spcAft>
                <a:spcPts val="0"/>
              </a:spcAft>
              <a:buSzPts val="1800"/>
              <a:buChar char="🠶"/>
            </a:pPr>
            <a:r>
              <a:rPr lang="fr-FR"/>
              <a:t>LA RANCUNE : une crise de foie.</a:t>
            </a:r>
            <a:endParaRPr/>
          </a:p>
          <a:p>
            <a:pPr indent="-342900" lvl="0" marL="342900" rtl="0" algn="l">
              <a:spcBef>
                <a:spcPts val="1000"/>
              </a:spcBef>
              <a:spcAft>
                <a:spcPts val="0"/>
              </a:spcAft>
              <a:buSzPts val="1800"/>
              <a:buChar char="🠶"/>
            </a:pPr>
            <a:r>
              <a:rPr lang="fr-FR"/>
              <a:t>LA DIFFICULTÉ A TROUVER OU A PRENDRE SA PLACE peut provoquer des infections urinaires à répétition.</a:t>
            </a:r>
            <a:endParaRPr/>
          </a:p>
          <a:p>
            <a:pPr indent="-342900" lvl="0" marL="342900" rtl="0" algn="l">
              <a:spcBef>
                <a:spcPts val="1000"/>
              </a:spcBef>
              <a:spcAft>
                <a:spcPts val="0"/>
              </a:spcAft>
              <a:buSzPts val="1800"/>
              <a:buChar char="🠶"/>
            </a:pPr>
            <a:r>
              <a:rPr lang="fr-FR"/>
              <a:t>QUELQUE CHOSE QU'ON NE VEUT PAS ENTENDRE OU QUAND ON NE VEUT PAS S’ÉCOUTER, des otites, douleurs d'oreilles.</a:t>
            </a:r>
            <a:endParaRPr/>
          </a:p>
          <a:p>
            <a:pPr indent="-342900" lvl="0" marL="342900" rtl="0" algn="l">
              <a:spcBef>
                <a:spcPts val="1000"/>
              </a:spcBef>
              <a:spcAft>
                <a:spcPts val="0"/>
              </a:spcAft>
              <a:buSzPts val="1800"/>
              <a:buChar char="🠶"/>
            </a:pPr>
            <a:r>
              <a:rPr lang="fr-FR"/>
              <a:t>QUELQUE CHOSE QU'ON N'A PAS OSE DIRE, QU'ON A RAVALE, une angine, des maux de gorge.</a:t>
            </a:r>
            <a:endParaRPr/>
          </a:p>
          <a:p>
            <a:pPr indent="-342900" lvl="0" marL="342900" rtl="0" algn="l">
              <a:spcBef>
                <a:spcPts val="1000"/>
              </a:spcBef>
              <a:spcAft>
                <a:spcPts val="0"/>
              </a:spcAft>
              <a:buSzPts val="1800"/>
              <a:buChar char="🠶"/>
            </a:pPr>
            <a:r>
              <a:rPr lang="fr-FR"/>
              <a:t>UN REFUS DE CÉDER, DE PLIER, D’OBÉIR OU DE SE SOUMETTRE, des problèmes de genoux.</a:t>
            </a:r>
            <a:endParaRPr/>
          </a:p>
          <a:p>
            <a:pPr indent="-228600" lvl="0" marL="342900" rtl="0" algn="l">
              <a:spcBef>
                <a:spcPts val="1000"/>
              </a:spcBef>
              <a:spcAft>
                <a:spcPts val="0"/>
              </a:spcAft>
              <a:buSzPts val="1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animEffect filter="fade" transition="in">
                                      <p:cBhvr>
                                        <p:cTn dur="1000"/>
                                        <p:tgtEl>
                                          <p:spTgt spid="2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1" st="1"/>
                                            </p:txEl>
                                          </p:spTgt>
                                        </p:tgtEl>
                                        <p:attrNameLst>
                                          <p:attrName>style.visibility</p:attrName>
                                        </p:attrNameLst>
                                      </p:cBhvr>
                                      <p:to>
                                        <p:strVal val="visible"/>
                                      </p:to>
                                    </p:set>
                                    <p:animEffect filter="fade" transition="in">
                                      <p:cBhvr>
                                        <p:cTn dur="1000"/>
                                        <p:tgtEl>
                                          <p:spTgt spid="2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2" st="2"/>
                                            </p:txEl>
                                          </p:spTgt>
                                        </p:tgtEl>
                                        <p:attrNameLst>
                                          <p:attrName>style.visibility</p:attrName>
                                        </p:attrNameLst>
                                      </p:cBhvr>
                                      <p:to>
                                        <p:strVal val="visible"/>
                                      </p:to>
                                    </p:set>
                                    <p:animEffect filter="fade" transition="in">
                                      <p:cBhvr>
                                        <p:cTn dur="1000"/>
                                        <p:tgtEl>
                                          <p:spTgt spid="2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3" st="3"/>
                                            </p:txEl>
                                          </p:spTgt>
                                        </p:tgtEl>
                                        <p:attrNameLst>
                                          <p:attrName>style.visibility</p:attrName>
                                        </p:attrNameLst>
                                      </p:cBhvr>
                                      <p:to>
                                        <p:strVal val="visible"/>
                                      </p:to>
                                    </p:set>
                                    <p:animEffect filter="fade" transition="in">
                                      <p:cBhvr>
                                        <p:cTn dur="1000"/>
                                        <p:tgtEl>
                                          <p:spTgt spid="25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4" st="4"/>
                                            </p:txEl>
                                          </p:spTgt>
                                        </p:tgtEl>
                                        <p:attrNameLst>
                                          <p:attrName>style.visibility</p:attrName>
                                        </p:attrNameLst>
                                      </p:cBhvr>
                                      <p:to>
                                        <p:strVal val="visible"/>
                                      </p:to>
                                    </p:set>
                                    <p:animEffect filter="fade" transition="in">
                                      <p:cBhvr>
                                        <p:cTn dur="1000"/>
                                        <p:tgtEl>
                                          <p:spTgt spid="25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5" st="5"/>
                                            </p:txEl>
                                          </p:spTgt>
                                        </p:tgtEl>
                                        <p:attrNameLst>
                                          <p:attrName>style.visibility</p:attrName>
                                        </p:attrNameLst>
                                      </p:cBhvr>
                                      <p:to>
                                        <p:strVal val="visible"/>
                                      </p:to>
                                    </p:set>
                                    <p:animEffect filter="fade" transition="in">
                                      <p:cBhvr>
                                        <p:cTn dur="1000"/>
                                        <p:tgtEl>
                                          <p:spTgt spid="25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6" st="6"/>
                                            </p:txEl>
                                          </p:spTgt>
                                        </p:tgtEl>
                                        <p:attrNameLst>
                                          <p:attrName>style.visibility</p:attrName>
                                        </p:attrNameLst>
                                      </p:cBhvr>
                                      <p:to>
                                        <p:strVal val="visible"/>
                                      </p:to>
                                    </p:set>
                                    <p:animEffect filter="fade" transition="in">
                                      <p:cBhvr>
                                        <p:cTn dur="1000"/>
                                        <p:tgtEl>
                                          <p:spTgt spid="25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7" st="7"/>
                                            </p:txEl>
                                          </p:spTgt>
                                        </p:tgtEl>
                                        <p:attrNameLst>
                                          <p:attrName>style.visibility</p:attrName>
                                        </p:attrNameLst>
                                      </p:cBhvr>
                                      <p:to>
                                        <p:strVal val="visible"/>
                                      </p:to>
                                    </p:set>
                                    <p:animEffect filter="fade" transition="in">
                                      <p:cBhvr>
                                        <p:cTn dur="1000"/>
                                        <p:tgtEl>
                                          <p:spTgt spid="25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4"/>
          <p:cNvSpPr txBox="1"/>
          <p:nvPr>
            <p:ph idx="1" type="body"/>
          </p:nvPr>
        </p:nvSpPr>
        <p:spPr>
          <a:xfrm>
            <a:off x="2218152" y="1298714"/>
            <a:ext cx="8915400" cy="511609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fr-FR"/>
              <a:t>PEUR DE L'AVENIR, PEUR DU CHANGEMENT, PEUR DE MANQUER D'ARGENT, des douleurs lombaires.</a:t>
            </a:r>
            <a:endParaRPr/>
          </a:p>
          <a:p>
            <a:pPr indent="-342900" lvl="0" marL="342900" rtl="0" algn="l">
              <a:spcBef>
                <a:spcPts val="1000"/>
              </a:spcBef>
              <a:spcAft>
                <a:spcPts val="0"/>
              </a:spcAft>
              <a:buSzPts val="1800"/>
              <a:buChar char="🠶"/>
            </a:pPr>
            <a:r>
              <a:rPr lang="fr-FR"/>
              <a:t>INTRANSIGEANCE, RIGIDITÉ, douleurs cervicales et nuque raide.</a:t>
            </a:r>
            <a:endParaRPr/>
          </a:p>
          <a:p>
            <a:pPr indent="-342900" lvl="0" marL="342900" rtl="0" algn="l">
              <a:spcBef>
                <a:spcPts val="1000"/>
              </a:spcBef>
              <a:spcAft>
                <a:spcPts val="0"/>
              </a:spcAft>
              <a:buSzPts val="1800"/>
              <a:buChar char="🠶"/>
            </a:pPr>
            <a:r>
              <a:rPr lang="fr-FR"/>
              <a:t>CONFLIT AVEC L’AUTORITÉ, douleurs d'épaules.</a:t>
            </a:r>
            <a:endParaRPr/>
          </a:p>
          <a:p>
            <a:pPr indent="-342900" lvl="0" marL="342900" rtl="0" algn="l">
              <a:spcBef>
                <a:spcPts val="1000"/>
              </a:spcBef>
              <a:spcAft>
                <a:spcPts val="0"/>
              </a:spcAft>
              <a:buSzPts val="1800"/>
              <a:buChar char="🠶"/>
            </a:pPr>
            <a:r>
              <a:rPr lang="fr-FR"/>
              <a:t>TOUT PRENDRE SUR SOI, également douleurs d'épaules, sensation d'un fardeau.</a:t>
            </a:r>
            <a:endParaRPr/>
          </a:p>
          <a:p>
            <a:pPr indent="-342900" lvl="0" marL="342900" rtl="0" algn="l">
              <a:spcBef>
                <a:spcPts val="1000"/>
              </a:spcBef>
              <a:spcAft>
                <a:spcPts val="0"/>
              </a:spcAft>
              <a:buSzPts val="1800"/>
              <a:buChar char="🠶"/>
            </a:pPr>
            <a:r>
              <a:rPr lang="fr-FR"/>
              <a:t>SERRER LES DENTS POUR AFFRONTER QUELQU'UN OU UNE SITUATION SANS RIEN DIRE...douleurs dentaires, aphtes, abcès.</a:t>
            </a:r>
            <a:endParaRPr/>
          </a:p>
          <a:p>
            <a:pPr indent="-342900" lvl="0" marL="342900" rtl="0" algn="l">
              <a:spcBef>
                <a:spcPts val="1000"/>
              </a:spcBef>
              <a:spcAft>
                <a:spcPts val="0"/>
              </a:spcAft>
              <a:buSzPts val="1800"/>
              <a:buChar char="🠶"/>
            </a:pPr>
            <a:r>
              <a:rPr lang="fr-FR"/>
              <a:t>PEUR DE L'AVENIR, DIFFICULTÉS A ALLER DE L'AVANT, OU BESOIN DE "LEVER LE PIED": douleurs dans les jambes, les pieds, les chevilles.</a:t>
            </a:r>
            <a:endParaRPr/>
          </a:p>
          <a:p>
            <a:pPr indent="-228600" lvl="0" marL="342900" rtl="0" algn="l">
              <a:spcBef>
                <a:spcPts val="1000"/>
              </a:spcBef>
              <a:spcAft>
                <a:spcPts val="0"/>
              </a:spcAft>
              <a:buSzPts val="1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0" st="0"/>
                                            </p:txEl>
                                          </p:spTgt>
                                        </p:tgtEl>
                                        <p:attrNameLst>
                                          <p:attrName>style.visibility</p:attrName>
                                        </p:attrNameLst>
                                      </p:cBhvr>
                                      <p:to>
                                        <p:strVal val="visible"/>
                                      </p:to>
                                    </p:set>
                                    <p:animEffect filter="fade" transition="in">
                                      <p:cBhvr>
                                        <p:cTn dur="500"/>
                                        <p:tgtEl>
                                          <p:spTgt spid="2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1" st="1"/>
                                            </p:txEl>
                                          </p:spTgt>
                                        </p:tgtEl>
                                        <p:attrNameLst>
                                          <p:attrName>style.visibility</p:attrName>
                                        </p:attrNameLst>
                                      </p:cBhvr>
                                      <p:to>
                                        <p:strVal val="visible"/>
                                      </p:to>
                                    </p:set>
                                    <p:animEffect filter="fade" transition="in">
                                      <p:cBhvr>
                                        <p:cTn dur="500"/>
                                        <p:tgtEl>
                                          <p:spTgt spid="2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2" st="2"/>
                                            </p:txEl>
                                          </p:spTgt>
                                        </p:tgtEl>
                                        <p:attrNameLst>
                                          <p:attrName>style.visibility</p:attrName>
                                        </p:attrNameLst>
                                      </p:cBhvr>
                                      <p:to>
                                        <p:strVal val="visible"/>
                                      </p:to>
                                    </p:set>
                                    <p:animEffect filter="fade" transition="in">
                                      <p:cBhvr>
                                        <p:cTn dur="500"/>
                                        <p:tgtEl>
                                          <p:spTgt spid="2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3" st="3"/>
                                            </p:txEl>
                                          </p:spTgt>
                                        </p:tgtEl>
                                        <p:attrNameLst>
                                          <p:attrName>style.visibility</p:attrName>
                                        </p:attrNameLst>
                                      </p:cBhvr>
                                      <p:to>
                                        <p:strVal val="visible"/>
                                      </p:to>
                                    </p:set>
                                    <p:animEffect filter="fade" transition="in">
                                      <p:cBhvr>
                                        <p:cTn dur="500"/>
                                        <p:tgtEl>
                                          <p:spTgt spid="2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4" st="4"/>
                                            </p:txEl>
                                          </p:spTgt>
                                        </p:tgtEl>
                                        <p:attrNameLst>
                                          <p:attrName>style.visibility</p:attrName>
                                        </p:attrNameLst>
                                      </p:cBhvr>
                                      <p:to>
                                        <p:strVal val="visible"/>
                                      </p:to>
                                    </p:set>
                                    <p:animEffect filter="fade" transition="in">
                                      <p:cBhvr>
                                        <p:cTn dur="500"/>
                                        <p:tgtEl>
                                          <p:spTgt spid="2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5" st="5"/>
                                            </p:txEl>
                                          </p:spTgt>
                                        </p:tgtEl>
                                        <p:attrNameLst>
                                          <p:attrName>style.visibility</p:attrName>
                                        </p:attrNameLst>
                                      </p:cBhvr>
                                      <p:to>
                                        <p:strVal val="visible"/>
                                      </p:to>
                                    </p:set>
                                    <p:animEffect filter="fade" transition="in">
                                      <p:cBhvr>
                                        <p:cTn dur="500"/>
                                        <p:tgtEl>
                                          <p:spTgt spid="25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6" st="6"/>
                                            </p:txEl>
                                          </p:spTgt>
                                        </p:tgtEl>
                                        <p:attrNameLst>
                                          <p:attrName>style.visibility</p:attrName>
                                        </p:attrNameLst>
                                      </p:cBhvr>
                                      <p:to>
                                        <p:strVal val="visible"/>
                                      </p:to>
                                    </p:set>
                                    <p:animEffect filter="fade" transition="in">
                                      <p:cBhvr>
                                        <p:cTn dur="500"/>
                                        <p:tgtEl>
                                          <p:spTgt spid="25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5"/>
          <p:cNvSpPr txBox="1"/>
          <p:nvPr>
            <p:ph type="title"/>
          </p:nvPr>
        </p:nvSpPr>
        <p:spPr>
          <a:xfrm>
            <a:off x="1900594" y="741676"/>
            <a:ext cx="5323167" cy="86505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EFB16F"/>
              </a:buClr>
              <a:buSzPts val="3600"/>
              <a:buFont typeface="Century Gothic"/>
              <a:buNone/>
            </a:pPr>
            <a:r>
              <a:rPr b="1" lang="fr-FR" u="sng">
                <a:solidFill>
                  <a:srgbClr val="EFB16F"/>
                </a:solidFill>
              </a:rPr>
              <a:t> Les causes du stress:</a:t>
            </a:r>
            <a:endParaRPr/>
          </a:p>
        </p:txBody>
      </p:sp>
      <p:sp>
        <p:nvSpPr>
          <p:cNvPr id="265" name="Google Shape;265;p15"/>
          <p:cNvSpPr txBox="1"/>
          <p:nvPr>
            <p:ph idx="1" type="body"/>
          </p:nvPr>
        </p:nvSpPr>
        <p:spPr>
          <a:xfrm>
            <a:off x="966652" y="1959428"/>
            <a:ext cx="10564086" cy="3801292"/>
          </a:xfrm>
          <a:prstGeom prst="rect">
            <a:avLst/>
          </a:prstGeom>
          <a:noFill/>
          <a:ln>
            <a:noFill/>
          </a:ln>
        </p:spPr>
        <p:txBody>
          <a:bodyPr anchorCtr="0" anchor="t" bIns="45700" lIns="91425" spcFirstLastPara="1" rIns="91425" wrap="square" tIns="45700">
            <a:normAutofit/>
          </a:bodyPr>
          <a:lstStyle/>
          <a:p>
            <a:pPr indent="-342900" lvl="0" marL="342900" rtl="0" algn="l">
              <a:lnSpc>
                <a:spcPct val="160000"/>
              </a:lnSpc>
              <a:spcBef>
                <a:spcPts val="0"/>
              </a:spcBef>
              <a:spcAft>
                <a:spcPts val="0"/>
              </a:spcAft>
              <a:buSzPts val="1800"/>
              <a:buChar char="🠶"/>
            </a:pPr>
            <a:r>
              <a:rPr lang="fr-FR">
                <a:solidFill>
                  <a:srgbClr val="0C0C0C"/>
                </a:solidFill>
              </a:rPr>
              <a:t>Le stress est déclenché par des situations qui représentent un "danger" pour l'individu ou par des tresseurs. Ces situations de stress et/ou tresseurs peuvent s'apparenter par divers contextes en fonctions de l'âge de la personne.</a:t>
            </a:r>
            <a:endParaRPr/>
          </a:p>
          <a:p>
            <a:pPr indent="-342900" lvl="0" marL="342900" rtl="0" algn="l">
              <a:lnSpc>
                <a:spcPct val="160000"/>
              </a:lnSpc>
              <a:spcBef>
                <a:spcPts val="1000"/>
              </a:spcBef>
              <a:spcAft>
                <a:spcPts val="0"/>
              </a:spcAft>
              <a:buSzPts val="1800"/>
              <a:buNone/>
            </a:pPr>
            <a:r>
              <a:rPr lang="fr-FR">
                <a:solidFill>
                  <a:srgbClr val="0C0C0C"/>
                </a:solidFill>
              </a:rPr>
              <a:t>      Chez l'enfant et l'adolescent, ceux-ci peuvent se traduire par la confrontation à des situations violentes, abusives ou encore conflictuelles, comme dans le cas d'un divorce des parents.</a:t>
            </a:r>
            <a:endParaRPr/>
          </a:p>
          <a:p>
            <a:pPr indent="-228600" lvl="0" marL="342900" rtl="0" algn="l">
              <a:spcBef>
                <a:spcPts val="1000"/>
              </a:spcBef>
              <a:spcAft>
                <a:spcPts val="0"/>
              </a:spcAft>
              <a:buSzPts val="1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0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animEffect filter="fade" transition="in">
                                      <p:cBhvr>
                                        <p:cTn dur="1000"/>
                                        <p:tgtEl>
                                          <p:spTgt spid="2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animEffect filter="fade" transition="in">
                                      <p:cBhvr>
                                        <p:cTn dur="1000"/>
                                        <p:tgtEl>
                                          <p:spTgt spid="2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animEffect filter="fade" transition="in">
                                      <p:cBhvr>
                                        <p:cTn dur="1000"/>
                                        <p:tgtEl>
                                          <p:spTgt spid="26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16"/>
          <p:cNvPicPr preferRelativeResize="0"/>
          <p:nvPr/>
        </p:nvPicPr>
        <p:blipFill rotWithShape="1">
          <a:blip r:embed="rId3">
            <a:alphaModFix/>
          </a:blip>
          <a:srcRect b="0" l="0" r="0" t="0"/>
          <a:stretch/>
        </p:blipFill>
        <p:spPr>
          <a:xfrm>
            <a:off x="4941532" y="2663687"/>
            <a:ext cx="2088232" cy="1497767"/>
          </a:xfrm>
          <a:prstGeom prst="rect">
            <a:avLst/>
          </a:prstGeom>
          <a:noFill/>
          <a:ln>
            <a:noFill/>
          </a:ln>
        </p:spPr>
      </p:pic>
      <p:sp>
        <p:nvSpPr>
          <p:cNvPr id="271" name="Google Shape;271;p16"/>
          <p:cNvSpPr/>
          <p:nvPr/>
        </p:nvSpPr>
        <p:spPr>
          <a:xfrm>
            <a:off x="7576457" y="574764"/>
            <a:ext cx="3235938" cy="2272126"/>
          </a:xfrm>
          <a:prstGeom prst="cloudCallout">
            <a:avLst>
              <a:gd fmla="val -60382" name="adj1"/>
              <a:gd fmla="val 62500" name="adj2"/>
            </a:avLst>
          </a:prstGeom>
          <a:solidFill>
            <a:schemeClr val="lt1"/>
          </a:solidFill>
          <a:ln cap="rnd" cmpd="sng" w="1587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1" lang="fr-FR" sz="1800">
                <a:solidFill>
                  <a:schemeClr val="dk1"/>
                </a:solidFill>
                <a:latin typeface="Century Gothic"/>
                <a:ea typeface="Century Gothic"/>
                <a:cs typeface="Century Gothic"/>
                <a:sym typeface="Century Gothic"/>
              </a:rPr>
              <a:t>        Influence de</a:t>
            </a:r>
            <a:endParaRPr/>
          </a:p>
          <a:p>
            <a:pPr indent="0" lvl="0" marL="0" marR="0" rtl="0" algn="just">
              <a:spcBef>
                <a:spcPts val="0"/>
              </a:spcBef>
              <a:spcAft>
                <a:spcPts val="0"/>
              </a:spcAft>
              <a:buNone/>
            </a:pPr>
            <a:r>
              <a:rPr b="1" lang="fr-FR" sz="1800">
                <a:solidFill>
                  <a:schemeClr val="dk1"/>
                </a:solidFill>
                <a:latin typeface="Century Gothic"/>
                <a:ea typeface="Century Gothic"/>
                <a:cs typeface="Century Gothic"/>
                <a:sym typeface="Century Gothic"/>
              </a:rPr>
              <a:t> La personnalité</a:t>
            </a:r>
            <a:endParaRPr/>
          </a:p>
          <a:p>
            <a:pPr indent="0" lvl="0" marL="0" marR="0" rtl="0" algn="just">
              <a:spcBef>
                <a:spcPts val="0"/>
              </a:spcBef>
              <a:spcAft>
                <a:spcPts val="0"/>
              </a:spcAft>
              <a:buNone/>
            </a:pPr>
            <a:r>
              <a:rPr b="1" lang="fr-FR" sz="1800">
                <a:solidFill>
                  <a:schemeClr val="dk1"/>
                </a:solidFill>
                <a:latin typeface="Century Gothic"/>
                <a:ea typeface="Century Gothic"/>
                <a:cs typeface="Century Gothic"/>
                <a:sym typeface="Century Gothic"/>
              </a:rPr>
              <a:t>  de chacun</a:t>
            </a:r>
            <a:endParaRPr/>
          </a:p>
          <a:p>
            <a:pPr indent="0" lvl="0" marL="0" marR="0" rtl="0" algn="just">
              <a:spcBef>
                <a:spcPts val="0"/>
              </a:spcBef>
              <a:spcAft>
                <a:spcPts val="0"/>
              </a:spcAft>
              <a:buNone/>
            </a:pPr>
            <a:r>
              <a:rPr b="1" lang="fr-FR" sz="1800">
                <a:solidFill>
                  <a:schemeClr val="dk1"/>
                </a:solidFill>
                <a:latin typeface="Century Gothic"/>
                <a:ea typeface="Century Gothic"/>
                <a:cs typeface="Century Gothic"/>
                <a:sym typeface="Century Gothic"/>
              </a:rPr>
              <a:t>  face à la</a:t>
            </a:r>
            <a:endParaRPr/>
          </a:p>
          <a:p>
            <a:pPr indent="0" lvl="0" marL="0" marR="0" rtl="0" algn="just">
              <a:spcBef>
                <a:spcPts val="0"/>
              </a:spcBef>
              <a:spcAft>
                <a:spcPts val="0"/>
              </a:spcAft>
              <a:buNone/>
            </a:pPr>
            <a:r>
              <a:rPr b="1" lang="fr-FR" sz="1800">
                <a:solidFill>
                  <a:schemeClr val="dk1"/>
                </a:solidFill>
                <a:latin typeface="Century Gothic"/>
                <a:ea typeface="Century Gothic"/>
                <a:cs typeface="Century Gothic"/>
                <a:sym typeface="Century Gothic"/>
              </a:rPr>
              <a:t>  réaction au</a:t>
            </a:r>
            <a:endParaRPr/>
          </a:p>
          <a:p>
            <a:pPr indent="0" lvl="0" marL="0" marR="0" rtl="0" algn="just">
              <a:spcBef>
                <a:spcPts val="0"/>
              </a:spcBef>
              <a:spcAft>
                <a:spcPts val="0"/>
              </a:spcAft>
              <a:buNone/>
            </a:pPr>
            <a:r>
              <a:rPr b="1" lang="fr-FR" sz="1800">
                <a:solidFill>
                  <a:schemeClr val="dk1"/>
                </a:solidFill>
                <a:latin typeface="Century Gothic"/>
                <a:ea typeface="Century Gothic"/>
                <a:cs typeface="Century Gothic"/>
                <a:sym typeface="Century Gothic"/>
              </a:rPr>
              <a:t>       Stress </a:t>
            </a:r>
            <a:endParaRPr sz="1800">
              <a:solidFill>
                <a:schemeClr val="dk1"/>
              </a:solidFill>
              <a:latin typeface="Century Gothic"/>
              <a:ea typeface="Century Gothic"/>
              <a:cs typeface="Century Gothic"/>
              <a:sym typeface="Century Gothic"/>
            </a:endParaRPr>
          </a:p>
        </p:txBody>
      </p:sp>
      <p:sp>
        <p:nvSpPr>
          <p:cNvPr id="272" name="Google Shape;272;p16"/>
          <p:cNvSpPr/>
          <p:nvPr/>
        </p:nvSpPr>
        <p:spPr>
          <a:xfrm>
            <a:off x="7873778" y="3918857"/>
            <a:ext cx="3791353" cy="2939143"/>
          </a:xfrm>
          <a:prstGeom prst="cloudCallout">
            <a:avLst>
              <a:gd fmla="val -68840" name="adj1"/>
              <a:gd fmla="val -45623" name="adj2"/>
            </a:avLst>
          </a:prstGeom>
          <a:solidFill>
            <a:schemeClr val="lt1"/>
          </a:solidFill>
          <a:ln cap="rnd" cmpd="sng" w="1587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600">
                <a:solidFill>
                  <a:schemeClr val="dk1"/>
                </a:solidFill>
                <a:latin typeface="Century Gothic"/>
                <a:ea typeface="Century Gothic"/>
                <a:cs typeface="Century Gothic"/>
                <a:sym typeface="Century Gothic"/>
              </a:rPr>
              <a:t>Aspect</a:t>
            </a:r>
            <a:endParaRPr/>
          </a:p>
          <a:p>
            <a:pPr indent="0" lvl="0" marL="0" marR="0" rtl="0" algn="l">
              <a:spcBef>
                <a:spcPts val="0"/>
              </a:spcBef>
              <a:spcAft>
                <a:spcPts val="0"/>
              </a:spcAft>
              <a:buNone/>
            </a:pPr>
            <a:r>
              <a:rPr b="1" lang="fr-FR" sz="1600">
                <a:solidFill>
                  <a:schemeClr val="dk1"/>
                </a:solidFill>
                <a:latin typeface="Century Gothic"/>
                <a:ea typeface="Century Gothic"/>
                <a:cs typeface="Century Gothic"/>
                <a:sym typeface="Century Gothic"/>
              </a:rPr>
              <a:t>psychologique</a:t>
            </a:r>
            <a:endParaRPr/>
          </a:p>
          <a:p>
            <a:pPr indent="0" lvl="0" marL="0" marR="0" rtl="0" algn="l">
              <a:spcBef>
                <a:spcPts val="0"/>
              </a:spcBef>
              <a:spcAft>
                <a:spcPts val="0"/>
              </a:spcAft>
              <a:buNone/>
            </a:pPr>
            <a:r>
              <a:rPr b="1" lang="fr-FR" sz="1600">
                <a:solidFill>
                  <a:schemeClr val="dk1"/>
                </a:solidFill>
                <a:latin typeface="Century Gothic"/>
                <a:ea typeface="Century Gothic"/>
                <a:cs typeface="Century Gothic"/>
                <a:sym typeface="Century Gothic"/>
              </a:rPr>
              <a:t>: C’est</a:t>
            </a:r>
            <a:endParaRPr/>
          </a:p>
          <a:p>
            <a:pPr indent="0" lvl="0" marL="0" marR="0" rtl="0" algn="l">
              <a:spcBef>
                <a:spcPts val="0"/>
              </a:spcBef>
              <a:spcAft>
                <a:spcPts val="0"/>
              </a:spcAft>
              <a:buNone/>
            </a:pPr>
            <a:r>
              <a:rPr b="1" lang="fr-FR" sz="1600">
                <a:solidFill>
                  <a:schemeClr val="dk1"/>
                </a:solidFill>
                <a:latin typeface="Century Gothic"/>
                <a:ea typeface="Century Gothic"/>
                <a:cs typeface="Century Gothic"/>
                <a:sym typeface="Century Gothic"/>
              </a:rPr>
              <a:t>l’aspect le</a:t>
            </a:r>
            <a:endParaRPr/>
          </a:p>
          <a:p>
            <a:pPr indent="0" lvl="0" marL="0" marR="0" rtl="0" algn="l">
              <a:spcBef>
                <a:spcPts val="0"/>
              </a:spcBef>
              <a:spcAft>
                <a:spcPts val="0"/>
              </a:spcAft>
              <a:buNone/>
            </a:pPr>
            <a:r>
              <a:rPr b="1" lang="fr-FR" sz="1600">
                <a:solidFill>
                  <a:schemeClr val="dk1"/>
                </a:solidFill>
                <a:latin typeface="Century Gothic"/>
                <a:ea typeface="Century Gothic"/>
                <a:cs typeface="Century Gothic"/>
                <a:sym typeface="Century Gothic"/>
              </a:rPr>
              <a:t>plus important</a:t>
            </a:r>
            <a:endParaRPr/>
          </a:p>
          <a:p>
            <a:pPr indent="0" lvl="0" marL="0" marR="0" rtl="0" algn="l">
              <a:spcBef>
                <a:spcPts val="0"/>
              </a:spcBef>
              <a:spcAft>
                <a:spcPts val="0"/>
              </a:spcAft>
              <a:buNone/>
            </a:pPr>
            <a:r>
              <a:rPr b="1" lang="fr-FR" sz="1600">
                <a:solidFill>
                  <a:schemeClr val="dk1"/>
                </a:solidFill>
                <a:latin typeface="Century Gothic"/>
                <a:ea typeface="Century Gothic"/>
                <a:cs typeface="Century Gothic"/>
                <a:sym typeface="Century Gothic"/>
              </a:rPr>
              <a:t>dans le</a:t>
            </a:r>
            <a:endParaRPr/>
          </a:p>
          <a:p>
            <a:pPr indent="0" lvl="0" marL="0" marR="0" rtl="0" algn="l">
              <a:spcBef>
                <a:spcPts val="0"/>
              </a:spcBef>
              <a:spcAft>
                <a:spcPts val="0"/>
              </a:spcAft>
              <a:buNone/>
            </a:pPr>
            <a:r>
              <a:rPr b="1" lang="fr-FR" sz="1600">
                <a:solidFill>
                  <a:schemeClr val="dk1"/>
                </a:solidFill>
                <a:latin typeface="Century Gothic"/>
                <a:ea typeface="Century Gothic"/>
                <a:cs typeface="Century Gothic"/>
                <a:sym typeface="Century Gothic"/>
              </a:rPr>
              <a:t>traitement du</a:t>
            </a:r>
            <a:endParaRPr/>
          </a:p>
          <a:p>
            <a:pPr indent="0" lvl="0" marL="0" marR="0" rtl="0" algn="l">
              <a:spcBef>
                <a:spcPts val="0"/>
              </a:spcBef>
              <a:spcAft>
                <a:spcPts val="0"/>
              </a:spcAft>
              <a:buNone/>
            </a:pPr>
            <a:r>
              <a:rPr b="1" lang="fr-FR" sz="1800">
                <a:solidFill>
                  <a:schemeClr val="dk1"/>
                </a:solidFill>
                <a:latin typeface="Century Gothic"/>
                <a:ea typeface="Century Gothic"/>
                <a:cs typeface="Century Gothic"/>
                <a:sym typeface="Century Gothic"/>
              </a:rPr>
              <a:t>stress</a:t>
            </a:r>
            <a:endParaRPr sz="1800">
              <a:solidFill>
                <a:schemeClr val="dk1"/>
              </a:solidFill>
              <a:latin typeface="Century Gothic"/>
              <a:ea typeface="Century Gothic"/>
              <a:cs typeface="Century Gothic"/>
              <a:sym typeface="Century Gothic"/>
            </a:endParaRPr>
          </a:p>
        </p:txBody>
      </p:sp>
      <p:sp>
        <p:nvSpPr>
          <p:cNvPr id="273" name="Google Shape;273;p16"/>
          <p:cNvSpPr/>
          <p:nvPr/>
        </p:nvSpPr>
        <p:spPr>
          <a:xfrm flipH="1">
            <a:off x="1669001" y="875212"/>
            <a:ext cx="2916062" cy="2304620"/>
          </a:xfrm>
          <a:prstGeom prst="cloudCallout">
            <a:avLst>
              <a:gd fmla="val -61586" name="adj1"/>
              <a:gd fmla="val 49984" name="adj2"/>
            </a:avLst>
          </a:prstGeom>
          <a:solidFill>
            <a:schemeClr val="lt1"/>
          </a:solidFill>
          <a:ln cap="rnd" cmpd="sng" w="1587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dk1"/>
                </a:solidFill>
                <a:latin typeface="Century Gothic"/>
                <a:ea typeface="Century Gothic"/>
                <a:cs typeface="Century Gothic"/>
                <a:sym typeface="Century Gothic"/>
              </a:rPr>
              <a:t>Personne</a:t>
            </a:r>
            <a:endParaRPr/>
          </a:p>
          <a:p>
            <a:pPr indent="0" lvl="0" marL="0" marR="0" rtl="0" algn="ctr">
              <a:spcBef>
                <a:spcPts val="0"/>
              </a:spcBef>
              <a:spcAft>
                <a:spcPts val="0"/>
              </a:spcAft>
              <a:buNone/>
            </a:pPr>
            <a:r>
              <a:rPr b="1" lang="fr-FR" sz="1800">
                <a:solidFill>
                  <a:schemeClr val="dk1"/>
                </a:solidFill>
                <a:latin typeface="Century Gothic"/>
                <a:ea typeface="Century Gothic"/>
                <a:cs typeface="Century Gothic"/>
                <a:sym typeface="Century Gothic"/>
              </a:rPr>
              <a:t>anxieuse et</a:t>
            </a:r>
            <a:endParaRPr/>
          </a:p>
          <a:p>
            <a:pPr indent="0" lvl="0" marL="0" marR="0" rtl="0" algn="ctr">
              <a:spcBef>
                <a:spcPts val="0"/>
              </a:spcBef>
              <a:spcAft>
                <a:spcPts val="0"/>
              </a:spcAft>
              <a:buNone/>
            </a:pPr>
            <a:r>
              <a:rPr b="1" lang="fr-FR" sz="1800">
                <a:solidFill>
                  <a:schemeClr val="dk1"/>
                </a:solidFill>
                <a:latin typeface="Century Gothic"/>
                <a:ea typeface="Century Gothic"/>
                <a:cs typeface="Century Gothic"/>
                <a:sym typeface="Century Gothic"/>
              </a:rPr>
              <a:t>personne</a:t>
            </a:r>
            <a:endParaRPr/>
          </a:p>
          <a:p>
            <a:pPr indent="0" lvl="0" marL="0" marR="0" rtl="0" algn="ctr">
              <a:spcBef>
                <a:spcPts val="0"/>
              </a:spcBef>
              <a:spcAft>
                <a:spcPts val="0"/>
              </a:spcAft>
              <a:buNone/>
            </a:pPr>
            <a:r>
              <a:rPr b="1" lang="fr-FR" sz="1800">
                <a:solidFill>
                  <a:schemeClr val="dk1"/>
                </a:solidFill>
                <a:latin typeface="Century Gothic"/>
                <a:ea typeface="Century Gothic"/>
                <a:cs typeface="Century Gothic"/>
                <a:sym typeface="Century Gothic"/>
              </a:rPr>
              <a:t>moins</a:t>
            </a:r>
            <a:endParaRPr/>
          </a:p>
          <a:p>
            <a:pPr indent="0" lvl="0" marL="0" marR="0" rtl="0" algn="ctr">
              <a:spcBef>
                <a:spcPts val="0"/>
              </a:spcBef>
              <a:spcAft>
                <a:spcPts val="0"/>
              </a:spcAft>
              <a:buNone/>
            </a:pPr>
            <a:r>
              <a:rPr b="1" lang="fr-FR" sz="1800">
                <a:solidFill>
                  <a:schemeClr val="dk1"/>
                </a:solidFill>
                <a:latin typeface="Century Gothic"/>
                <a:ea typeface="Century Gothic"/>
                <a:cs typeface="Century Gothic"/>
                <a:sym typeface="Century Gothic"/>
              </a:rPr>
              <a:t>anxieuse face</a:t>
            </a:r>
            <a:endParaRPr/>
          </a:p>
          <a:p>
            <a:pPr indent="0" lvl="0" marL="0" marR="0" rtl="0" algn="ctr">
              <a:spcBef>
                <a:spcPts val="0"/>
              </a:spcBef>
              <a:spcAft>
                <a:spcPts val="0"/>
              </a:spcAft>
              <a:buNone/>
            </a:pPr>
            <a:r>
              <a:rPr b="1" lang="fr-FR" sz="1800">
                <a:solidFill>
                  <a:schemeClr val="dk1"/>
                </a:solidFill>
                <a:latin typeface="Century Gothic"/>
                <a:ea typeface="Century Gothic"/>
                <a:cs typeface="Century Gothic"/>
                <a:sym typeface="Century Gothic"/>
              </a:rPr>
              <a:t>au stress</a:t>
            </a:r>
            <a:endParaRPr sz="1800">
              <a:solidFill>
                <a:schemeClr val="dk1"/>
              </a:solidFill>
              <a:latin typeface="Century Gothic"/>
              <a:ea typeface="Century Gothic"/>
              <a:cs typeface="Century Gothic"/>
              <a:sym typeface="Century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20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7"/>
          <p:cNvSpPr txBox="1"/>
          <p:nvPr>
            <p:ph idx="1" type="body"/>
          </p:nvPr>
        </p:nvSpPr>
        <p:spPr>
          <a:xfrm>
            <a:off x="2589212" y="1404730"/>
            <a:ext cx="8915400" cy="450649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00"/>
              <a:buNone/>
            </a:pPr>
            <a:r>
              <a:rPr b="1" lang="fr-FR" sz="2000">
                <a:solidFill>
                  <a:srgbClr val="C00000"/>
                </a:solidFill>
              </a:rPr>
              <a:t>      Causes relatives aux études:</a:t>
            </a:r>
            <a:endParaRPr/>
          </a:p>
          <a:p>
            <a:pPr indent="-228600" lvl="0" marL="34290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fr-FR"/>
              <a:t>L’approche des examens ou d’une présentation orale,etc.</a:t>
            </a:r>
            <a:endParaRPr/>
          </a:p>
          <a:p>
            <a:pPr indent="-342900" lvl="0" marL="342900" rtl="0" algn="l">
              <a:spcBef>
                <a:spcPts val="1000"/>
              </a:spcBef>
              <a:spcAft>
                <a:spcPts val="0"/>
              </a:spcAft>
              <a:buSzPts val="1800"/>
              <a:buChar char="🠶"/>
            </a:pPr>
            <a:r>
              <a:rPr lang="fr-FR"/>
              <a:t>La pressure des études.</a:t>
            </a:r>
            <a:endParaRPr/>
          </a:p>
          <a:p>
            <a:pPr indent="-342900" lvl="0" marL="342900" rtl="0" algn="l">
              <a:spcBef>
                <a:spcPts val="1000"/>
              </a:spcBef>
              <a:spcAft>
                <a:spcPts val="0"/>
              </a:spcAft>
              <a:buSzPts val="1800"/>
              <a:buChar char="🠶"/>
            </a:pPr>
            <a:r>
              <a:rPr lang="fr-FR"/>
              <a:t>harcèlement moral ;</a:t>
            </a:r>
            <a:endParaRPr/>
          </a:p>
          <a:p>
            <a:pPr indent="-342900" lvl="0" marL="342900" rtl="0" algn="l">
              <a:spcBef>
                <a:spcPts val="1000"/>
              </a:spcBef>
              <a:spcAft>
                <a:spcPts val="0"/>
              </a:spcAft>
              <a:buSzPts val="1800"/>
              <a:buChar char="🠶"/>
            </a:pPr>
            <a:r>
              <a:rPr lang="fr-FR"/>
              <a:t>manque de communication dans une équipe ;</a:t>
            </a:r>
            <a:endParaRPr/>
          </a:p>
          <a:p>
            <a:pPr indent="-342900" lvl="0" marL="342900" rtl="0" algn="l">
              <a:spcBef>
                <a:spcPts val="1000"/>
              </a:spcBef>
              <a:spcAft>
                <a:spcPts val="0"/>
              </a:spcAft>
              <a:buSzPts val="1800"/>
              <a:buChar char="🠶"/>
            </a:pPr>
            <a:r>
              <a:rPr lang="fr-FR"/>
              <a:t>jalousies ou compétition dans la classes.</a:t>
            </a:r>
            <a:endParaRPr/>
          </a:p>
          <a:p>
            <a:pPr indent="-342900" lvl="0" marL="342900" rtl="0" algn="l">
              <a:spcBef>
                <a:spcPts val="1000"/>
              </a:spcBef>
              <a:spcAft>
                <a:spcPts val="0"/>
              </a:spcAft>
              <a:buSzPts val="1800"/>
              <a:buChar char="🠶"/>
            </a:pPr>
            <a:r>
              <a:rPr lang="fr-FR"/>
              <a:t>Programme  trop chargé;</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278">
                                            <p:txEl>
                                              <p:pRg end="0" st="0"/>
                                            </p:txEl>
                                          </p:spTgt>
                                        </p:tgtEl>
                                      </p:cBhvr>
                                    </p:animEffect>
                                    <p:set>
                                      <p:cBhvr>
                                        <p:cTn dur="1" fill="hold">
                                          <p:stCondLst>
                                            <p:cond delay="2000"/>
                                          </p:stCondLst>
                                        </p:cTn>
                                        <p:tgtEl>
                                          <p:spTgt spid="278">
                                            <p:txEl>
                                              <p:pRg end="0" st="0"/>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278">
                                            <p:txEl>
                                              <p:pRg end="1" st="1"/>
                                            </p:txEl>
                                          </p:spTgt>
                                        </p:tgtEl>
                                      </p:cBhvr>
                                    </p:animEffect>
                                    <p:set>
                                      <p:cBhvr>
                                        <p:cTn dur="1" fill="hold">
                                          <p:stCondLst>
                                            <p:cond delay="2000"/>
                                          </p:stCondLst>
                                        </p:cTn>
                                        <p:tgtEl>
                                          <p:spTgt spid="278">
                                            <p:txEl>
                                              <p:pRg end="1" st="1"/>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278">
                                            <p:txEl>
                                              <p:pRg end="2" st="2"/>
                                            </p:txEl>
                                          </p:spTgt>
                                        </p:tgtEl>
                                      </p:cBhvr>
                                    </p:animEffect>
                                    <p:set>
                                      <p:cBhvr>
                                        <p:cTn dur="1" fill="hold">
                                          <p:stCondLst>
                                            <p:cond delay="2000"/>
                                          </p:stCondLst>
                                        </p:cTn>
                                        <p:tgtEl>
                                          <p:spTgt spid="278">
                                            <p:txEl>
                                              <p:pRg end="2" st="2"/>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278">
                                            <p:txEl>
                                              <p:pRg end="3" st="3"/>
                                            </p:txEl>
                                          </p:spTgt>
                                        </p:tgtEl>
                                      </p:cBhvr>
                                    </p:animEffect>
                                    <p:set>
                                      <p:cBhvr>
                                        <p:cTn dur="1" fill="hold">
                                          <p:stCondLst>
                                            <p:cond delay="2000"/>
                                          </p:stCondLst>
                                        </p:cTn>
                                        <p:tgtEl>
                                          <p:spTgt spid="278">
                                            <p:txEl>
                                              <p:pRg end="3" st="3"/>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278">
                                            <p:txEl>
                                              <p:pRg end="4" st="4"/>
                                            </p:txEl>
                                          </p:spTgt>
                                        </p:tgtEl>
                                      </p:cBhvr>
                                    </p:animEffect>
                                    <p:set>
                                      <p:cBhvr>
                                        <p:cTn dur="1" fill="hold">
                                          <p:stCondLst>
                                            <p:cond delay="2000"/>
                                          </p:stCondLst>
                                        </p:cTn>
                                        <p:tgtEl>
                                          <p:spTgt spid="278">
                                            <p:txEl>
                                              <p:pRg end="4" st="4"/>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278">
                                            <p:txEl>
                                              <p:pRg end="5" st="5"/>
                                            </p:txEl>
                                          </p:spTgt>
                                        </p:tgtEl>
                                      </p:cBhvr>
                                    </p:animEffect>
                                    <p:set>
                                      <p:cBhvr>
                                        <p:cTn dur="1" fill="hold">
                                          <p:stCondLst>
                                            <p:cond delay="2000"/>
                                          </p:stCondLst>
                                        </p:cTn>
                                        <p:tgtEl>
                                          <p:spTgt spid="278">
                                            <p:txEl>
                                              <p:pRg end="5" st="5"/>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278">
                                            <p:txEl>
                                              <p:pRg end="6" st="6"/>
                                            </p:txEl>
                                          </p:spTgt>
                                        </p:tgtEl>
                                      </p:cBhvr>
                                    </p:animEffect>
                                    <p:set>
                                      <p:cBhvr>
                                        <p:cTn dur="1" fill="hold">
                                          <p:stCondLst>
                                            <p:cond delay="2000"/>
                                          </p:stCondLst>
                                        </p:cTn>
                                        <p:tgtEl>
                                          <p:spTgt spid="278">
                                            <p:txEl>
                                              <p:pRg end="6" st="6"/>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278">
                                            <p:txEl>
                                              <p:pRg end="7" st="7"/>
                                            </p:txEl>
                                          </p:spTgt>
                                        </p:tgtEl>
                                      </p:cBhvr>
                                    </p:animEffect>
                                    <p:set>
                                      <p:cBhvr>
                                        <p:cTn dur="1" fill="hold">
                                          <p:stCondLst>
                                            <p:cond delay="2000"/>
                                          </p:stCondLst>
                                        </p:cTn>
                                        <p:tgtEl>
                                          <p:spTgt spid="278">
                                            <p:txEl>
                                              <p:pRg end="7" st="7"/>
                                            </p:txEl>
                                          </p:spTgt>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8"/>
          <p:cNvSpPr txBox="1"/>
          <p:nvPr>
            <p:ph idx="1" type="body"/>
          </p:nvPr>
        </p:nvSpPr>
        <p:spPr>
          <a:xfrm>
            <a:off x="1227909" y="1619794"/>
            <a:ext cx="10276703" cy="429142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00"/>
              <a:buNone/>
            </a:pPr>
            <a:r>
              <a:rPr b="1" lang="fr-FR" sz="2000">
                <a:solidFill>
                  <a:srgbClr val="C00000"/>
                </a:solidFill>
              </a:rPr>
              <a:t>Causes personnelles:</a:t>
            </a:r>
            <a:endParaRPr/>
          </a:p>
          <a:p>
            <a:pPr indent="-228600" lvl="0" marL="34290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fr-FR"/>
              <a:t>travail domestique épuisant ;</a:t>
            </a:r>
            <a:endParaRPr/>
          </a:p>
          <a:p>
            <a:pPr indent="-342900" lvl="0" marL="342900" rtl="0" algn="l">
              <a:spcBef>
                <a:spcPts val="1000"/>
              </a:spcBef>
              <a:spcAft>
                <a:spcPts val="0"/>
              </a:spcAft>
              <a:buSzPts val="1800"/>
              <a:buChar char="🠶"/>
            </a:pPr>
            <a:r>
              <a:rPr lang="fr-FR"/>
              <a:t>utilisation des transports en commun trop longue (ex. : 3 h par jour) ;</a:t>
            </a:r>
            <a:endParaRPr/>
          </a:p>
          <a:p>
            <a:pPr indent="-342900" lvl="0" marL="342900" rtl="0" algn="l">
              <a:spcBef>
                <a:spcPts val="1000"/>
              </a:spcBef>
              <a:spcAft>
                <a:spcPts val="0"/>
              </a:spcAft>
              <a:buSzPts val="1800"/>
              <a:buChar char="🠶"/>
            </a:pPr>
            <a:r>
              <a:rPr lang="fr-FR"/>
              <a:t>embouteillages ;</a:t>
            </a:r>
            <a:endParaRPr/>
          </a:p>
          <a:p>
            <a:pPr indent="-342900" lvl="0" marL="342900" rtl="0" algn="l">
              <a:spcBef>
                <a:spcPts val="1000"/>
              </a:spcBef>
              <a:spcAft>
                <a:spcPts val="0"/>
              </a:spcAft>
              <a:buSzPts val="1800"/>
              <a:buChar char="🠶"/>
            </a:pPr>
            <a:r>
              <a:rPr lang="fr-FR"/>
              <a:t>mauvaise gestion du temps personnel.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9"/>
          <p:cNvSpPr txBox="1"/>
          <p:nvPr>
            <p:ph type="title"/>
          </p:nvPr>
        </p:nvSpPr>
        <p:spPr>
          <a:xfrm>
            <a:off x="2220685" y="1015995"/>
            <a:ext cx="6191795" cy="85199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EFB16F"/>
              </a:buClr>
              <a:buSzPts val="3600"/>
              <a:buFont typeface="Century Gothic"/>
              <a:buNone/>
            </a:pPr>
            <a:r>
              <a:rPr b="1" lang="fr-FR">
                <a:solidFill>
                  <a:srgbClr val="EFB16F"/>
                </a:solidFill>
              </a:rPr>
              <a:t>Les approches du stress</a:t>
            </a:r>
            <a:endParaRPr>
              <a:solidFill>
                <a:srgbClr val="EFB16F"/>
              </a:solidFill>
            </a:endParaRPr>
          </a:p>
        </p:txBody>
      </p:sp>
      <p:sp>
        <p:nvSpPr>
          <p:cNvPr id="289" name="Google Shape;289;p19"/>
          <p:cNvSpPr txBox="1"/>
          <p:nvPr>
            <p:ph idx="1" type="body"/>
          </p:nvPr>
        </p:nvSpPr>
        <p:spPr>
          <a:xfrm>
            <a:off x="1149531" y="1998617"/>
            <a:ext cx="10267407" cy="32004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SzPts val="1800"/>
              <a:buNone/>
            </a:pPr>
            <a:r>
              <a:rPr lang="fr-FR">
                <a:solidFill>
                  <a:srgbClr val="00B050"/>
                </a:solidFill>
              </a:rPr>
              <a:t>Approche biologique</a:t>
            </a:r>
            <a:r>
              <a:rPr lang="fr-FR"/>
              <a:t>: </a:t>
            </a:r>
            <a:endParaRPr/>
          </a:p>
          <a:p>
            <a:pPr indent="-342900" lvl="0" marL="342900" rtl="0" algn="l">
              <a:lnSpc>
                <a:spcPct val="150000"/>
              </a:lnSpc>
              <a:spcBef>
                <a:spcPts val="1000"/>
              </a:spcBef>
              <a:spcAft>
                <a:spcPts val="0"/>
              </a:spcAft>
              <a:buSzPts val="1800"/>
              <a:buNone/>
            </a:pPr>
            <a:r>
              <a:rPr lang="fr-FR">
                <a:solidFill>
                  <a:srgbClr val="315949"/>
                </a:solidFill>
              </a:rPr>
              <a:t>définie par Hans Selye, qui selon lui, l’individu réagit à un tresseur d’une</a:t>
            </a:r>
            <a:endParaRPr/>
          </a:p>
          <a:p>
            <a:pPr indent="-342900" lvl="0" marL="342900" rtl="0" algn="l">
              <a:lnSpc>
                <a:spcPct val="150000"/>
              </a:lnSpc>
              <a:spcBef>
                <a:spcPts val="1000"/>
              </a:spcBef>
              <a:spcAft>
                <a:spcPts val="0"/>
              </a:spcAft>
              <a:buSzPts val="1800"/>
              <a:buNone/>
            </a:pPr>
            <a:r>
              <a:rPr lang="fr-FR">
                <a:solidFill>
                  <a:srgbClr val="315949"/>
                </a:solidFill>
              </a:rPr>
              <a:t>manière non spécifique.</a:t>
            </a:r>
            <a:endParaRPr/>
          </a:p>
          <a:p>
            <a:pPr indent="-342900" lvl="0" marL="342900" rtl="0" algn="l">
              <a:lnSpc>
                <a:spcPct val="150000"/>
              </a:lnSpc>
              <a:spcBef>
                <a:spcPts val="1000"/>
              </a:spcBef>
              <a:spcAft>
                <a:spcPts val="0"/>
              </a:spcAft>
              <a:buSzPts val="1800"/>
              <a:buFont typeface="Noto Sans Symbols"/>
              <a:buChar char="⮚"/>
            </a:pPr>
            <a:r>
              <a:rPr lang="fr-FR">
                <a:solidFill>
                  <a:srgbClr val="315949"/>
                </a:solidFill>
              </a:rPr>
              <a:t>Même réaction face à une situation agréable ou désagréable, puis l’organisme s’adapte par la  suite. D’où le SGA.</a:t>
            </a:r>
            <a:endParaRPr/>
          </a:p>
          <a:p>
            <a:pPr indent="-228600" lvl="0" marL="342900" rtl="0" algn="l">
              <a:spcBef>
                <a:spcPts val="1000"/>
              </a:spcBef>
              <a:spcAft>
                <a:spcPts val="0"/>
              </a:spcAft>
              <a:buSzPts val="1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0"/>
          <p:cNvSpPr txBox="1"/>
          <p:nvPr>
            <p:ph idx="1" type="body"/>
          </p:nvPr>
        </p:nvSpPr>
        <p:spPr>
          <a:xfrm>
            <a:off x="1332412" y="2142309"/>
            <a:ext cx="9980022" cy="306977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None/>
            </a:pPr>
            <a:r>
              <a:rPr lang="fr-FR">
                <a:solidFill>
                  <a:srgbClr val="00B050"/>
                </a:solidFill>
              </a:rPr>
              <a:t>  • L’approche transactionnelle: </a:t>
            </a:r>
            <a:r>
              <a:rPr lang="fr-FR">
                <a:solidFill>
                  <a:srgbClr val="315949"/>
                </a:solidFill>
              </a:rPr>
              <a:t>repose sur les travaux de LAZARUS et FOLKMAN(1984),</a:t>
            </a:r>
            <a:endParaRPr/>
          </a:p>
          <a:p>
            <a:pPr indent="-342900" lvl="0" marL="342900" rtl="0" algn="l">
              <a:spcBef>
                <a:spcPts val="1000"/>
              </a:spcBef>
              <a:spcAft>
                <a:spcPts val="0"/>
              </a:spcAft>
              <a:buSzPts val="1800"/>
              <a:buNone/>
            </a:pPr>
            <a:r>
              <a:rPr lang="fr-FR">
                <a:solidFill>
                  <a:srgbClr val="315949"/>
                </a:solidFill>
              </a:rPr>
              <a:t>     Le stress est « une relation particulière entre la personne et l’environnement qui est</a:t>
            </a:r>
            <a:endParaRPr/>
          </a:p>
          <a:p>
            <a:pPr indent="-342900" lvl="0" marL="342900" rtl="0" algn="l">
              <a:spcBef>
                <a:spcPts val="1000"/>
              </a:spcBef>
              <a:spcAft>
                <a:spcPts val="0"/>
              </a:spcAft>
              <a:buSzPts val="1800"/>
              <a:buNone/>
            </a:pPr>
            <a:r>
              <a:rPr lang="fr-FR">
                <a:solidFill>
                  <a:srgbClr val="315949"/>
                </a:solidFill>
              </a:rPr>
              <a:t>     évalué par la personne comme mettant à l’épreuve ou dépassant ses ressources et</a:t>
            </a:r>
            <a:endParaRPr/>
          </a:p>
          <a:p>
            <a:pPr indent="-342900" lvl="0" marL="342900" rtl="0" algn="l">
              <a:spcBef>
                <a:spcPts val="1000"/>
              </a:spcBef>
              <a:spcAft>
                <a:spcPts val="0"/>
              </a:spcAft>
              <a:buSzPts val="1800"/>
              <a:buNone/>
            </a:pPr>
            <a:r>
              <a:rPr lang="fr-FR">
                <a:solidFill>
                  <a:srgbClr val="315949"/>
                </a:solidFill>
              </a:rPr>
              <a:t>     mettant en péril son bien-être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1"/>
          <p:cNvSpPr txBox="1"/>
          <p:nvPr>
            <p:ph type="title"/>
          </p:nvPr>
        </p:nvSpPr>
        <p:spPr>
          <a:xfrm>
            <a:off x="1894115" y="624110"/>
            <a:ext cx="9610498" cy="642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EFB16F"/>
              </a:buClr>
              <a:buSzPts val="3600"/>
              <a:buFont typeface="Century Gothic"/>
              <a:buNone/>
            </a:pPr>
            <a:r>
              <a:rPr b="1" lang="fr-FR">
                <a:solidFill>
                  <a:srgbClr val="EFB16F"/>
                </a:solidFill>
              </a:rPr>
              <a:t>Quelques conseils pour gérer son stress</a:t>
            </a:r>
            <a:endParaRPr>
              <a:solidFill>
                <a:srgbClr val="EFB16F"/>
              </a:solidFill>
            </a:endParaRPr>
          </a:p>
        </p:txBody>
      </p:sp>
      <p:sp>
        <p:nvSpPr>
          <p:cNvPr id="300" name="Google Shape;300;p21"/>
          <p:cNvSpPr txBox="1"/>
          <p:nvPr>
            <p:ph idx="1" type="body"/>
          </p:nvPr>
        </p:nvSpPr>
        <p:spPr>
          <a:xfrm>
            <a:off x="1423851" y="1724297"/>
            <a:ext cx="9797143" cy="4467497"/>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70000"/>
              </a:lnSpc>
              <a:spcBef>
                <a:spcPts val="0"/>
              </a:spcBef>
              <a:spcAft>
                <a:spcPts val="0"/>
              </a:spcAft>
              <a:buSzPct val="100000"/>
              <a:buNone/>
            </a:pPr>
            <a:r>
              <a:rPr lang="fr-FR" sz="1900"/>
              <a:t>La gestion de son stress est possible !</a:t>
            </a:r>
            <a:endParaRPr/>
          </a:p>
          <a:p>
            <a:pPr indent="-342900" lvl="0" marL="342900" rtl="0" algn="just">
              <a:lnSpc>
                <a:spcPct val="170000"/>
              </a:lnSpc>
              <a:spcBef>
                <a:spcPts val="1000"/>
              </a:spcBef>
              <a:spcAft>
                <a:spcPts val="0"/>
              </a:spcAft>
              <a:buSzPct val="100000"/>
              <a:buNone/>
            </a:pPr>
            <a:r>
              <a:rPr lang="fr-FR" sz="1900"/>
              <a:t>Quelques conseils et astuces permettent de détecter et de gérer son état de stress :</a:t>
            </a:r>
            <a:endParaRPr/>
          </a:p>
          <a:p>
            <a:pPr indent="-342900" lvl="0" marL="342900" rtl="0" algn="just">
              <a:lnSpc>
                <a:spcPct val="170000"/>
              </a:lnSpc>
              <a:spcBef>
                <a:spcPts val="1000"/>
              </a:spcBef>
              <a:spcAft>
                <a:spcPts val="0"/>
              </a:spcAft>
              <a:buSzPct val="100000"/>
              <a:buNone/>
            </a:pPr>
            <a:r>
              <a:rPr lang="fr-FR" sz="1900"/>
              <a:t>la </a:t>
            </a:r>
            <a:r>
              <a:rPr b="1" lang="fr-FR" sz="1900"/>
              <a:t>reconnaissance des signes</a:t>
            </a:r>
            <a:r>
              <a:rPr lang="fr-FR" sz="1900"/>
              <a:t> du stress (émotionnels, physiques et mentaux) ;</a:t>
            </a:r>
            <a:endParaRPr/>
          </a:p>
          <a:p>
            <a:pPr indent="-342900" lvl="0" marL="342900" rtl="0" algn="just">
              <a:lnSpc>
                <a:spcPct val="170000"/>
              </a:lnSpc>
              <a:spcBef>
                <a:spcPts val="1000"/>
              </a:spcBef>
              <a:spcAft>
                <a:spcPts val="0"/>
              </a:spcAft>
              <a:buSzPct val="100000"/>
              <a:buNone/>
            </a:pPr>
            <a:r>
              <a:rPr lang="fr-FR" sz="1900"/>
              <a:t>la </a:t>
            </a:r>
            <a:r>
              <a:rPr b="1" lang="fr-FR" sz="1900"/>
              <a:t>discussion</a:t>
            </a:r>
            <a:r>
              <a:rPr lang="fr-FR" sz="1900"/>
              <a:t> avec ses proches et/ou son médecin ;</a:t>
            </a:r>
            <a:endParaRPr/>
          </a:p>
          <a:p>
            <a:pPr indent="-342900" lvl="0" marL="342900" rtl="0" algn="just">
              <a:lnSpc>
                <a:spcPct val="170000"/>
              </a:lnSpc>
              <a:spcBef>
                <a:spcPts val="1000"/>
              </a:spcBef>
              <a:spcAft>
                <a:spcPts val="0"/>
              </a:spcAft>
              <a:buSzPct val="100000"/>
              <a:buNone/>
            </a:pPr>
            <a:r>
              <a:rPr lang="fr-FR" sz="1900"/>
              <a:t>la </a:t>
            </a:r>
            <a:r>
              <a:rPr b="1" lang="fr-FR" sz="1900"/>
              <a:t>pratique d'activité physique</a:t>
            </a:r>
            <a:r>
              <a:rPr lang="fr-FR" sz="1900"/>
              <a:t> quotidienne et la </a:t>
            </a:r>
            <a:r>
              <a:rPr b="1" lang="fr-FR" sz="1900"/>
              <a:t>socialisation</a:t>
            </a:r>
            <a:r>
              <a:rPr lang="fr-FR" sz="1900"/>
              <a:t> ;</a:t>
            </a:r>
            <a:endParaRPr/>
          </a:p>
          <a:p>
            <a:pPr indent="-342900" lvl="0" marL="342900" rtl="0" algn="just">
              <a:lnSpc>
                <a:spcPct val="170000"/>
              </a:lnSpc>
              <a:spcBef>
                <a:spcPts val="1000"/>
              </a:spcBef>
              <a:spcAft>
                <a:spcPts val="0"/>
              </a:spcAft>
              <a:buSzPct val="100000"/>
              <a:buNone/>
            </a:pPr>
            <a:r>
              <a:rPr lang="fr-FR" sz="1900"/>
              <a:t>des </a:t>
            </a:r>
            <a:r>
              <a:rPr b="1" lang="fr-FR" sz="1900"/>
              <a:t>exercices de relaxation</a:t>
            </a:r>
            <a:r>
              <a:rPr lang="fr-FR" sz="1900"/>
              <a:t>, comme des exercices de respirations par exemple ;</a:t>
            </a:r>
            <a:endParaRPr/>
          </a:p>
          <a:p>
            <a:pPr indent="-342900" lvl="0" marL="342900" rtl="0" algn="just">
              <a:lnSpc>
                <a:spcPct val="170000"/>
              </a:lnSpc>
              <a:spcBef>
                <a:spcPts val="1000"/>
              </a:spcBef>
              <a:spcAft>
                <a:spcPts val="0"/>
              </a:spcAft>
              <a:buSzPct val="100000"/>
              <a:buNone/>
            </a:pPr>
            <a:r>
              <a:rPr lang="fr-FR" sz="1900"/>
              <a:t>identifier et définir ses objectifs et ses priorités ;</a:t>
            </a:r>
            <a:endParaRPr/>
          </a:p>
          <a:p>
            <a:pPr indent="-342900" lvl="0" marL="342900" rtl="0" algn="just">
              <a:lnSpc>
                <a:spcPct val="170000"/>
              </a:lnSpc>
              <a:spcBef>
                <a:spcPts val="1000"/>
              </a:spcBef>
              <a:spcAft>
                <a:spcPts val="0"/>
              </a:spcAft>
              <a:buSzPct val="100000"/>
              <a:buNone/>
            </a:pPr>
            <a:r>
              <a:rPr lang="fr-FR" sz="1900"/>
              <a:t>rester en contact à la fois avec sa famille, ses amis et l'ensemble des personnes de son</a:t>
            </a:r>
            <a:endParaRPr/>
          </a:p>
          <a:p>
            <a:pPr indent="-342900" lvl="0" marL="342900" rtl="0" algn="just">
              <a:lnSpc>
                <a:spcPct val="170000"/>
              </a:lnSpc>
              <a:spcBef>
                <a:spcPts val="1000"/>
              </a:spcBef>
              <a:spcAft>
                <a:spcPts val="0"/>
              </a:spcAft>
              <a:buSzPct val="100000"/>
              <a:buNone/>
            </a:pPr>
            <a:r>
              <a:rPr lang="fr-FR" sz="1900"/>
              <a:t>quotidien </a:t>
            </a:r>
            <a:r>
              <a:rPr lang="fr-FR"/>
              <a:t>.</a:t>
            </a:r>
            <a:endParaRPr/>
          </a:p>
          <a:p>
            <a:pPr indent="-245745" lvl="0" marL="342900" rtl="0" algn="l">
              <a:spcBef>
                <a:spcPts val="1000"/>
              </a:spcBef>
              <a:spcAft>
                <a:spcPts val="0"/>
              </a:spcAft>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0" st="0"/>
                                            </p:txEl>
                                          </p:spTgt>
                                        </p:tgtEl>
                                        <p:attrNameLst>
                                          <p:attrName>style.visibility</p:attrName>
                                        </p:attrNameLst>
                                      </p:cBhvr>
                                      <p:to>
                                        <p:strVal val="visible"/>
                                      </p:to>
                                    </p:set>
                                    <p:animEffect filter="fade" transition="in">
                                      <p:cBhvr>
                                        <p:cTn dur="1000"/>
                                        <p:tgtEl>
                                          <p:spTgt spid="3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1" st="1"/>
                                            </p:txEl>
                                          </p:spTgt>
                                        </p:tgtEl>
                                        <p:attrNameLst>
                                          <p:attrName>style.visibility</p:attrName>
                                        </p:attrNameLst>
                                      </p:cBhvr>
                                      <p:to>
                                        <p:strVal val="visible"/>
                                      </p:to>
                                    </p:set>
                                    <p:animEffect filter="fade" transition="in">
                                      <p:cBhvr>
                                        <p:cTn dur="1000"/>
                                        <p:tgtEl>
                                          <p:spTgt spid="3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2" st="2"/>
                                            </p:txEl>
                                          </p:spTgt>
                                        </p:tgtEl>
                                        <p:attrNameLst>
                                          <p:attrName>style.visibility</p:attrName>
                                        </p:attrNameLst>
                                      </p:cBhvr>
                                      <p:to>
                                        <p:strVal val="visible"/>
                                      </p:to>
                                    </p:set>
                                    <p:animEffect filter="fade" transition="in">
                                      <p:cBhvr>
                                        <p:cTn dur="1000"/>
                                        <p:tgtEl>
                                          <p:spTgt spid="3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3" st="3"/>
                                            </p:txEl>
                                          </p:spTgt>
                                        </p:tgtEl>
                                        <p:attrNameLst>
                                          <p:attrName>style.visibility</p:attrName>
                                        </p:attrNameLst>
                                      </p:cBhvr>
                                      <p:to>
                                        <p:strVal val="visible"/>
                                      </p:to>
                                    </p:set>
                                    <p:animEffect filter="fade" transition="in">
                                      <p:cBhvr>
                                        <p:cTn dur="1000"/>
                                        <p:tgtEl>
                                          <p:spTgt spid="3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4" st="4"/>
                                            </p:txEl>
                                          </p:spTgt>
                                        </p:tgtEl>
                                        <p:attrNameLst>
                                          <p:attrName>style.visibility</p:attrName>
                                        </p:attrNameLst>
                                      </p:cBhvr>
                                      <p:to>
                                        <p:strVal val="visible"/>
                                      </p:to>
                                    </p:set>
                                    <p:animEffect filter="fade" transition="in">
                                      <p:cBhvr>
                                        <p:cTn dur="1000"/>
                                        <p:tgtEl>
                                          <p:spTgt spid="3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5" st="5"/>
                                            </p:txEl>
                                          </p:spTgt>
                                        </p:tgtEl>
                                        <p:attrNameLst>
                                          <p:attrName>style.visibility</p:attrName>
                                        </p:attrNameLst>
                                      </p:cBhvr>
                                      <p:to>
                                        <p:strVal val="visible"/>
                                      </p:to>
                                    </p:set>
                                    <p:animEffect filter="fade" transition="in">
                                      <p:cBhvr>
                                        <p:cTn dur="1000"/>
                                        <p:tgtEl>
                                          <p:spTgt spid="3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6" st="6"/>
                                            </p:txEl>
                                          </p:spTgt>
                                        </p:tgtEl>
                                        <p:attrNameLst>
                                          <p:attrName>style.visibility</p:attrName>
                                        </p:attrNameLst>
                                      </p:cBhvr>
                                      <p:to>
                                        <p:strVal val="visible"/>
                                      </p:to>
                                    </p:set>
                                    <p:animEffect filter="fade" transition="in">
                                      <p:cBhvr>
                                        <p:cTn dur="1000"/>
                                        <p:tgtEl>
                                          <p:spTgt spid="30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7" st="7"/>
                                            </p:txEl>
                                          </p:spTgt>
                                        </p:tgtEl>
                                        <p:attrNameLst>
                                          <p:attrName>style.visibility</p:attrName>
                                        </p:attrNameLst>
                                      </p:cBhvr>
                                      <p:to>
                                        <p:strVal val="visible"/>
                                      </p:to>
                                    </p:set>
                                    <p:animEffect filter="fade" transition="in">
                                      <p:cBhvr>
                                        <p:cTn dur="1000"/>
                                        <p:tgtEl>
                                          <p:spTgt spid="30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8" st="8"/>
                                            </p:txEl>
                                          </p:spTgt>
                                        </p:tgtEl>
                                        <p:attrNameLst>
                                          <p:attrName>style.visibility</p:attrName>
                                        </p:attrNameLst>
                                      </p:cBhvr>
                                      <p:to>
                                        <p:strVal val="visible"/>
                                      </p:to>
                                    </p:set>
                                    <p:animEffect filter="fade" transition="in">
                                      <p:cBhvr>
                                        <p:cTn dur="1000"/>
                                        <p:tgtEl>
                                          <p:spTgt spid="30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9" st="9"/>
                                            </p:txEl>
                                          </p:spTgt>
                                        </p:tgtEl>
                                        <p:attrNameLst>
                                          <p:attrName>style.visibility</p:attrName>
                                        </p:attrNameLst>
                                      </p:cBhvr>
                                      <p:to>
                                        <p:strVal val="visible"/>
                                      </p:to>
                                    </p:set>
                                    <p:animEffect filter="fade" transition="in">
                                      <p:cBhvr>
                                        <p:cTn dur="1000"/>
                                        <p:tgtEl>
                                          <p:spTgt spid="30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2"/>
          <p:cNvSpPr txBox="1"/>
          <p:nvPr>
            <p:ph type="title"/>
          </p:nvPr>
        </p:nvSpPr>
        <p:spPr>
          <a:xfrm>
            <a:off x="2103121" y="624110"/>
            <a:ext cx="9401492" cy="104793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EFB16F"/>
              </a:buClr>
              <a:buSzPts val="3600"/>
              <a:buFont typeface="Century Gothic"/>
              <a:buNone/>
            </a:pPr>
            <a:r>
              <a:rPr b="1" lang="fr-FR">
                <a:solidFill>
                  <a:srgbClr val="EFB16F"/>
                </a:solidFill>
              </a:rPr>
              <a:t>Gestion personnelle du stress</a:t>
            </a:r>
            <a:endParaRPr>
              <a:solidFill>
                <a:srgbClr val="EFB16F"/>
              </a:solidFill>
            </a:endParaRPr>
          </a:p>
        </p:txBody>
      </p:sp>
      <p:sp>
        <p:nvSpPr>
          <p:cNvPr id="306" name="Google Shape;306;p22"/>
          <p:cNvSpPr txBox="1"/>
          <p:nvPr>
            <p:ph idx="1" type="body"/>
          </p:nvPr>
        </p:nvSpPr>
        <p:spPr>
          <a:xfrm>
            <a:off x="979714" y="1593669"/>
            <a:ext cx="10524898" cy="431755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fr-FR">
                <a:solidFill>
                  <a:srgbClr val="00B050"/>
                </a:solidFill>
              </a:rPr>
              <a:t>Les médicaments:</a:t>
            </a:r>
            <a:endParaRPr/>
          </a:p>
          <a:p>
            <a:pPr indent="-342900" lvl="0" marL="342900" rtl="0" algn="l">
              <a:spcBef>
                <a:spcPts val="1000"/>
              </a:spcBef>
              <a:spcAft>
                <a:spcPts val="0"/>
              </a:spcAft>
              <a:buSzPts val="1800"/>
              <a:buNone/>
            </a:pPr>
            <a:r>
              <a:rPr b="1" lang="fr-FR">
                <a:solidFill>
                  <a:srgbClr val="7030A0"/>
                </a:solidFill>
              </a:rPr>
              <a:t>   Les plantes</a:t>
            </a:r>
            <a:endParaRPr/>
          </a:p>
          <a:p>
            <a:pPr indent="-342900" lvl="0" marL="342900" rtl="0" algn="l">
              <a:spcBef>
                <a:spcPts val="1000"/>
              </a:spcBef>
              <a:spcAft>
                <a:spcPts val="0"/>
              </a:spcAft>
              <a:buSzPts val="1800"/>
              <a:buNone/>
            </a:pPr>
            <a:r>
              <a:rPr lang="fr-FR"/>
              <a:t>o </a:t>
            </a:r>
            <a:r>
              <a:rPr i="1" lang="fr-FR"/>
              <a:t>les plantes  adaptogènes  : permettent</a:t>
            </a:r>
            <a:endParaRPr/>
          </a:p>
          <a:p>
            <a:pPr indent="-342900" lvl="0" marL="342900" rtl="0" algn="l">
              <a:spcBef>
                <a:spcPts val="1000"/>
              </a:spcBef>
              <a:spcAft>
                <a:spcPts val="0"/>
              </a:spcAft>
              <a:buSzPts val="1800"/>
              <a:buNone/>
            </a:pPr>
            <a:r>
              <a:rPr lang="fr-FR"/>
              <a:t>de renforcer la résistance au stress.</a:t>
            </a:r>
            <a:endParaRPr/>
          </a:p>
          <a:p>
            <a:pPr indent="-342900" lvl="0" marL="342900" rtl="0" algn="l">
              <a:spcBef>
                <a:spcPts val="1000"/>
              </a:spcBef>
              <a:spcAft>
                <a:spcPts val="0"/>
              </a:spcAft>
              <a:buSzPts val="1800"/>
              <a:buNone/>
            </a:pPr>
            <a:r>
              <a:rPr lang="fr-FR"/>
              <a:t>Le Ginseng :</a:t>
            </a:r>
            <a:endParaRPr/>
          </a:p>
          <a:p>
            <a:pPr indent="-342900" lvl="0" marL="342900" rtl="0" algn="l">
              <a:spcBef>
                <a:spcPts val="1000"/>
              </a:spcBef>
              <a:spcAft>
                <a:spcPts val="0"/>
              </a:spcAft>
              <a:buSzPts val="1800"/>
              <a:buNone/>
            </a:pPr>
            <a:r>
              <a:rPr lang="fr-FR"/>
              <a:t>o </a:t>
            </a:r>
            <a:r>
              <a:rPr i="1" lang="fr-FR"/>
              <a:t>Les plantes calmantes : permettent de</a:t>
            </a:r>
            <a:endParaRPr/>
          </a:p>
          <a:p>
            <a:pPr indent="-342900" lvl="0" marL="342900" rtl="0" algn="l">
              <a:spcBef>
                <a:spcPts val="1000"/>
              </a:spcBef>
              <a:spcAft>
                <a:spcPts val="0"/>
              </a:spcAft>
              <a:buSzPts val="1800"/>
              <a:buNone/>
            </a:pPr>
            <a:r>
              <a:rPr lang="fr-FR"/>
              <a:t>rééquilibrer le système nerveux.</a:t>
            </a:r>
            <a:endParaRPr/>
          </a:p>
          <a:p>
            <a:pPr indent="-342900" lvl="0" marL="342900" rtl="0" algn="l">
              <a:spcBef>
                <a:spcPts val="1000"/>
              </a:spcBef>
              <a:spcAft>
                <a:spcPts val="0"/>
              </a:spcAft>
              <a:buSzPts val="1800"/>
              <a:buNone/>
            </a:pPr>
            <a:r>
              <a:rPr lang="fr-FR"/>
              <a:t>La valériane :</a:t>
            </a:r>
            <a:endParaRPr/>
          </a:p>
          <a:p>
            <a:pPr indent="-342900" lvl="0" marL="342900" rtl="0" algn="l">
              <a:spcBef>
                <a:spcPts val="1000"/>
              </a:spcBef>
              <a:spcAft>
                <a:spcPts val="0"/>
              </a:spcAft>
              <a:buSzPts val="1800"/>
              <a:buNone/>
            </a:pPr>
            <a:r>
              <a:rPr lang="fr-FR"/>
              <a:t> la Passiflore:</a:t>
            </a:r>
            <a:endParaRPr/>
          </a:p>
        </p:txBody>
      </p:sp>
      <p:pic>
        <p:nvPicPr>
          <p:cNvPr id="307" name="Google Shape;307;p22"/>
          <p:cNvPicPr preferRelativeResize="0"/>
          <p:nvPr/>
        </p:nvPicPr>
        <p:blipFill rotWithShape="1">
          <a:blip r:embed="rId3">
            <a:alphaModFix/>
          </a:blip>
          <a:srcRect b="0" l="0" r="0" t="0"/>
          <a:stretch/>
        </p:blipFill>
        <p:spPr>
          <a:xfrm>
            <a:off x="9069978" y="1426489"/>
            <a:ext cx="2913017" cy="1728192"/>
          </a:xfrm>
          <a:prstGeom prst="rect">
            <a:avLst/>
          </a:prstGeom>
          <a:noFill/>
          <a:ln>
            <a:noFill/>
          </a:ln>
        </p:spPr>
      </p:pic>
      <p:pic>
        <p:nvPicPr>
          <p:cNvPr id="308" name="Google Shape;308;p22"/>
          <p:cNvPicPr preferRelativeResize="0"/>
          <p:nvPr/>
        </p:nvPicPr>
        <p:blipFill rotWithShape="1">
          <a:blip r:embed="rId4">
            <a:alphaModFix/>
          </a:blip>
          <a:srcRect b="0" l="0" r="0" t="0"/>
          <a:stretch/>
        </p:blipFill>
        <p:spPr>
          <a:xfrm>
            <a:off x="5547495" y="4489363"/>
            <a:ext cx="2592288" cy="1512168"/>
          </a:xfrm>
          <a:prstGeom prst="rect">
            <a:avLst/>
          </a:prstGeom>
          <a:noFill/>
          <a:ln>
            <a:noFill/>
          </a:ln>
        </p:spPr>
      </p:pic>
      <p:pic>
        <p:nvPicPr>
          <p:cNvPr id="309" name="Google Shape;309;p22"/>
          <p:cNvPicPr preferRelativeResize="0"/>
          <p:nvPr/>
        </p:nvPicPr>
        <p:blipFill rotWithShape="1">
          <a:blip r:embed="rId5">
            <a:alphaModFix/>
          </a:blip>
          <a:srcRect b="0" l="0" r="0" t="0"/>
          <a:stretch/>
        </p:blipFill>
        <p:spPr>
          <a:xfrm>
            <a:off x="8636496" y="4528553"/>
            <a:ext cx="2376264" cy="141504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0" st="0"/>
                                            </p:txEl>
                                          </p:spTgt>
                                        </p:tgtEl>
                                        <p:attrNameLst>
                                          <p:attrName>style.visibility</p:attrName>
                                        </p:attrNameLst>
                                      </p:cBhvr>
                                      <p:to>
                                        <p:strVal val="visible"/>
                                      </p:to>
                                    </p:set>
                                    <p:animEffect filter="fade" transition="in">
                                      <p:cBhvr>
                                        <p:cTn dur="1000"/>
                                        <p:tgtEl>
                                          <p:spTgt spid="3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 st="1"/>
                                            </p:txEl>
                                          </p:spTgt>
                                        </p:tgtEl>
                                        <p:attrNameLst>
                                          <p:attrName>style.visibility</p:attrName>
                                        </p:attrNameLst>
                                      </p:cBhvr>
                                      <p:to>
                                        <p:strVal val="visible"/>
                                      </p:to>
                                    </p:set>
                                    <p:animEffect filter="fade" transition="in">
                                      <p:cBhvr>
                                        <p:cTn dur="1000"/>
                                        <p:tgtEl>
                                          <p:spTgt spid="3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2" st="2"/>
                                            </p:txEl>
                                          </p:spTgt>
                                        </p:tgtEl>
                                        <p:attrNameLst>
                                          <p:attrName>style.visibility</p:attrName>
                                        </p:attrNameLst>
                                      </p:cBhvr>
                                      <p:to>
                                        <p:strVal val="visible"/>
                                      </p:to>
                                    </p:set>
                                    <p:animEffect filter="fade" transition="in">
                                      <p:cBhvr>
                                        <p:cTn dur="1000"/>
                                        <p:tgtEl>
                                          <p:spTgt spid="3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3" st="3"/>
                                            </p:txEl>
                                          </p:spTgt>
                                        </p:tgtEl>
                                        <p:attrNameLst>
                                          <p:attrName>style.visibility</p:attrName>
                                        </p:attrNameLst>
                                      </p:cBhvr>
                                      <p:to>
                                        <p:strVal val="visible"/>
                                      </p:to>
                                    </p:set>
                                    <p:animEffect filter="fade" transition="in">
                                      <p:cBhvr>
                                        <p:cTn dur="1000"/>
                                        <p:tgtEl>
                                          <p:spTgt spid="3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4" st="4"/>
                                            </p:txEl>
                                          </p:spTgt>
                                        </p:tgtEl>
                                        <p:attrNameLst>
                                          <p:attrName>style.visibility</p:attrName>
                                        </p:attrNameLst>
                                      </p:cBhvr>
                                      <p:to>
                                        <p:strVal val="visible"/>
                                      </p:to>
                                    </p:set>
                                    <p:animEffect filter="fade" transition="in">
                                      <p:cBhvr>
                                        <p:cTn dur="1000"/>
                                        <p:tgtEl>
                                          <p:spTgt spid="3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5" st="5"/>
                                            </p:txEl>
                                          </p:spTgt>
                                        </p:tgtEl>
                                        <p:attrNameLst>
                                          <p:attrName>style.visibility</p:attrName>
                                        </p:attrNameLst>
                                      </p:cBhvr>
                                      <p:to>
                                        <p:strVal val="visible"/>
                                      </p:to>
                                    </p:set>
                                    <p:animEffect filter="fade" transition="in">
                                      <p:cBhvr>
                                        <p:cTn dur="1000"/>
                                        <p:tgtEl>
                                          <p:spTgt spid="3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6" st="6"/>
                                            </p:txEl>
                                          </p:spTgt>
                                        </p:tgtEl>
                                        <p:attrNameLst>
                                          <p:attrName>style.visibility</p:attrName>
                                        </p:attrNameLst>
                                      </p:cBhvr>
                                      <p:to>
                                        <p:strVal val="visible"/>
                                      </p:to>
                                    </p:set>
                                    <p:animEffect filter="fade" transition="in">
                                      <p:cBhvr>
                                        <p:cTn dur="1000"/>
                                        <p:tgtEl>
                                          <p:spTgt spid="3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7" st="7"/>
                                            </p:txEl>
                                          </p:spTgt>
                                        </p:tgtEl>
                                        <p:attrNameLst>
                                          <p:attrName>style.visibility</p:attrName>
                                        </p:attrNameLst>
                                      </p:cBhvr>
                                      <p:to>
                                        <p:strVal val="visible"/>
                                      </p:to>
                                    </p:set>
                                    <p:animEffect filter="fade" transition="in">
                                      <p:cBhvr>
                                        <p:cTn dur="1000"/>
                                        <p:tgtEl>
                                          <p:spTgt spid="3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8" st="8"/>
                                            </p:txEl>
                                          </p:spTgt>
                                        </p:tgtEl>
                                        <p:attrNameLst>
                                          <p:attrName>style.visibility</p:attrName>
                                        </p:attrNameLst>
                                      </p:cBhvr>
                                      <p:to>
                                        <p:strVal val="visible"/>
                                      </p:to>
                                    </p:set>
                                    <p:animEffect filter="fade" transition="in">
                                      <p:cBhvr>
                                        <p:cTn dur="1000"/>
                                        <p:tgtEl>
                                          <p:spTgt spid="306">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3"/>
          <p:cNvSpPr txBox="1"/>
          <p:nvPr>
            <p:ph idx="1" type="body"/>
          </p:nvPr>
        </p:nvSpPr>
        <p:spPr>
          <a:xfrm>
            <a:off x="365759" y="1685110"/>
            <a:ext cx="11416937" cy="4252238"/>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SzPts val="1800"/>
              <a:buNone/>
            </a:pPr>
            <a:r>
              <a:rPr b="1" lang="fr-FR">
                <a:solidFill>
                  <a:srgbClr val="7030A0"/>
                </a:solidFill>
              </a:rPr>
              <a:t>                 • Faites de la marche :</a:t>
            </a:r>
            <a:endParaRPr/>
          </a:p>
          <a:p>
            <a:pPr indent="-342900" lvl="0" marL="342900" rtl="0" algn="l">
              <a:lnSpc>
                <a:spcPct val="150000"/>
              </a:lnSpc>
              <a:spcBef>
                <a:spcPts val="1000"/>
              </a:spcBef>
              <a:spcAft>
                <a:spcPts val="0"/>
              </a:spcAft>
              <a:buSzPts val="1800"/>
              <a:buNone/>
            </a:pPr>
            <a:r>
              <a:rPr b="1" lang="fr-FR"/>
              <a:t>   La marche favorise la respiration  naturelle , détend la colonne</a:t>
            </a:r>
            <a:endParaRPr/>
          </a:p>
          <a:p>
            <a:pPr indent="-342900" lvl="0" marL="342900" rtl="0" algn="l">
              <a:lnSpc>
                <a:spcPct val="150000"/>
              </a:lnSpc>
              <a:spcBef>
                <a:spcPts val="1000"/>
              </a:spcBef>
              <a:spcAft>
                <a:spcPts val="0"/>
              </a:spcAft>
              <a:buSzPts val="1800"/>
              <a:buNone/>
            </a:pPr>
            <a:r>
              <a:rPr b="1" lang="fr-FR"/>
              <a:t>   vertébrale ,tonifie le cœur, et fait   circuler l’énergie.</a:t>
            </a:r>
            <a:endParaRPr/>
          </a:p>
        </p:txBody>
      </p:sp>
      <p:pic>
        <p:nvPicPr>
          <p:cNvPr id="315" name="Google Shape;315;p23"/>
          <p:cNvPicPr preferRelativeResize="0"/>
          <p:nvPr/>
        </p:nvPicPr>
        <p:blipFill rotWithShape="1">
          <a:blip r:embed="rId3">
            <a:alphaModFix/>
          </a:blip>
          <a:srcRect b="0" l="0" r="0" t="0"/>
          <a:stretch/>
        </p:blipFill>
        <p:spPr>
          <a:xfrm>
            <a:off x="7223760" y="2764576"/>
            <a:ext cx="4163725" cy="3051886"/>
          </a:xfrm>
          <a:prstGeom prst="rect">
            <a:avLst/>
          </a:prstGeom>
          <a:noFill/>
          <a:ln>
            <a:noFill/>
          </a:ln>
        </p:spPr>
      </p:pic>
      <p:sp>
        <p:nvSpPr>
          <p:cNvPr id="316" name="Google Shape;316;p23"/>
          <p:cNvSpPr txBox="1"/>
          <p:nvPr>
            <p:ph type="title"/>
          </p:nvPr>
        </p:nvSpPr>
        <p:spPr>
          <a:xfrm>
            <a:off x="1926719" y="467356"/>
            <a:ext cx="8911687" cy="1165501"/>
          </a:xfrm>
          <a:prstGeom prst="rect">
            <a:avLst/>
          </a:prstGeom>
          <a:noFill/>
          <a:ln>
            <a:noFill/>
          </a:ln>
        </p:spPr>
        <p:txBody>
          <a:bodyPr anchorCtr="0" anchor="t" bIns="45700" lIns="91425" spcFirstLastPara="1" rIns="91425" wrap="square" tIns="45700">
            <a:normAutofit/>
          </a:bodyPr>
          <a:lstStyle/>
          <a:p>
            <a:pPr indent="-228600" lvl="0" marL="0" rtl="0" algn="l">
              <a:spcBef>
                <a:spcPts val="0"/>
              </a:spcBef>
              <a:spcAft>
                <a:spcPts val="0"/>
              </a:spcAft>
              <a:buClr>
                <a:srgbClr val="FF0000"/>
              </a:buClr>
              <a:buSzPts val="3600"/>
              <a:buFont typeface="Noto Sans Symbols"/>
              <a:buChar char="❖"/>
            </a:pPr>
            <a:r>
              <a:rPr b="1" lang="fr-FR">
                <a:solidFill>
                  <a:srgbClr val="FF0000"/>
                </a:solidFill>
              </a:rPr>
              <a:t>Hygiène de vie contre le stress</a:t>
            </a:r>
            <a:endParaRPr>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0" st="0"/>
                                            </p:txEl>
                                          </p:spTgt>
                                        </p:tgtEl>
                                        <p:attrNameLst>
                                          <p:attrName>style.visibility</p:attrName>
                                        </p:attrNameLst>
                                      </p:cBhvr>
                                      <p:to>
                                        <p:strVal val="visible"/>
                                      </p:to>
                                    </p:set>
                                    <p:animEffect filter="fade" transition="in">
                                      <p:cBhvr>
                                        <p:cTn dur="1000"/>
                                        <p:tgtEl>
                                          <p:spTgt spid="3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1" st="1"/>
                                            </p:txEl>
                                          </p:spTgt>
                                        </p:tgtEl>
                                        <p:attrNameLst>
                                          <p:attrName>style.visibility</p:attrName>
                                        </p:attrNameLst>
                                      </p:cBhvr>
                                      <p:to>
                                        <p:strVal val="visible"/>
                                      </p:to>
                                    </p:set>
                                    <p:animEffect filter="fade" transition="in">
                                      <p:cBhvr>
                                        <p:cTn dur="1000"/>
                                        <p:tgtEl>
                                          <p:spTgt spid="3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2" st="2"/>
                                            </p:txEl>
                                          </p:spTgt>
                                        </p:tgtEl>
                                        <p:attrNameLst>
                                          <p:attrName>style.visibility</p:attrName>
                                        </p:attrNameLst>
                                      </p:cBhvr>
                                      <p:to>
                                        <p:strVal val="visible"/>
                                      </p:to>
                                    </p:set>
                                    <p:animEffect filter="fade" transition="in">
                                      <p:cBhvr>
                                        <p:cTn dur="1000"/>
                                        <p:tgtEl>
                                          <p:spTgt spid="3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4"/>
          <p:cNvSpPr txBox="1"/>
          <p:nvPr>
            <p:ph idx="1" type="body"/>
          </p:nvPr>
        </p:nvSpPr>
        <p:spPr>
          <a:xfrm>
            <a:off x="1632856" y="940526"/>
            <a:ext cx="9871755" cy="547333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None/>
            </a:pPr>
            <a:r>
              <a:rPr lang="fr-FR"/>
              <a:t> • Manger sainement Manger équilibré</a:t>
            </a:r>
            <a:endParaRPr/>
          </a:p>
          <a:p>
            <a:pPr indent="-342900" lvl="0" marL="342900" rtl="0" algn="l">
              <a:spcBef>
                <a:spcPts val="1000"/>
              </a:spcBef>
              <a:spcAft>
                <a:spcPts val="0"/>
              </a:spcAft>
              <a:buSzPts val="1800"/>
              <a:buNone/>
            </a:pPr>
            <a:r>
              <a:rPr lang="fr-FR"/>
              <a:t>, il n’est pas nécessaire de</a:t>
            </a:r>
            <a:endParaRPr/>
          </a:p>
          <a:p>
            <a:pPr indent="-342900" lvl="0" marL="342900" rtl="0" algn="l">
              <a:spcBef>
                <a:spcPts val="1000"/>
              </a:spcBef>
              <a:spcAft>
                <a:spcPts val="0"/>
              </a:spcAft>
              <a:buSzPts val="1800"/>
              <a:buNone/>
            </a:pPr>
            <a:r>
              <a:rPr lang="fr-FR"/>
              <a:t>suivre des régimes draconiens , </a:t>
            </a:r>
            <a:endParaRPr/>
          </a:p>
          <a:p>
            <a:pPr indent="-342900" lvl="0" marL="342900" rtl="0" algn="l">
              <a:spcBef>
                <a:spcPts val="1000"/>
              </a:spcBef>
              <a:spcAft>
                <a:spcPts val="0"/>
              </a:spcAft>
              <a:buSzPts val="1800"/>
              <a:buNone/>
            </a:pPr>
            <a:r>
              <a:rPr lang="fr-FR"/>
              <a:t>un peu derbon  sens suffit .</a:t>
            </a:r>
            <a:endParaRPr/>
          </a:p>
          <a:p>
            <a:pPr indent="-342900" lvl="0" marL="342900" rtl="0" algn="l">
              <a:spcBef>
                <a:spcPts val="1000"/>
              </a:spcBef>
              <a:spcAft>
                <a:spcPts val="0"/>
              </a:spcAft>
              <a:buSzPts val="1800"/>
              <a:buNone/>
            </a:pPr>
            <a:r>
              <a:rPr lang="fr-FR"/>
              <a:t>Si non informez vous sur le site</a:t>
            </a:r>
            <a:endParaRPr/>
          </a:p>
          <a:p>
            <a:pPr indent="-342900" lvl="0" marL="342900" rtl="0" algn="l">
              <a:spcBef>
                <a:spcPts val="1000"/>
              </a:spcBef>
              <a:spcAft>
                <a:spcPts val="0"/>
              </a:spcAft>
              <a:buSzPts val="1800"/>
              <a:buNone/>
            </a:pPr>
            <a:r>
              <a:rPr lang="fr-FR"/>
              <a:t>suivant :</a:t>
            </a:r>
            <a:endParaRPr/>
          </a:p>
          <a:p>
            <a:pPr indent="-342900" lvl="0" marL="342900" rtl="0" algn="l">
              <a:spcBef>
                <a:spcPts val="1000"/>
              </a:spcBef>
              <a:spcAft>
                <a:spcPts val="0"/>
              </a:spcAft>
              <a:buSzPts val="1800"/>
              <a:buNone/>
            </a:pPr>
            <a:r>
              <a:t/>
            </a:r>
            <a:endParaRPr/>
          </a:p>
        </p:txBody>
      </p:sp>
      <p:pic>
        <p:nvPicPr>
          <p:cNvPr id="322" name="Google Shape;322;p24"/>
          <p:cNvPicPr preferRelativeResize="0"/>
          <p:nvPr/>
        </p:nvPicPr>
        <p:blipFill rotWithShape="1">
          <a:blip r:embed="rId3">
            <a:alphaModFix/>
          </a:blip>
          <a:srcRect b="0" l="0" r="0" t="0"/>
          <a:stretch/>
        </p:blipFill>
        <p:spPr>
          <a:xfrm>
            <a:off x="6809197" y="1131761"/>
            <a:ext cx="4616350" cy="48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animEffect filter="fade" transition="in">
                                      <p:cBhvr>
                                        <p:cTn dur="1000"/>
                                        <p:tgtEl>
                                          <p:spTgt spid="3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1" st="1"/>
                                            </p:txEl>
                                          </p:spTgt>
                                        </p:tgtEl>
                                        <p:attrNameLst>
                                          <p:attrName>style.visibility</p:attrName>
                                        </p:attrNameLst>
                                      </p:cBhvr>
                                      <p:to>
                                        <p:strVal val="visible"/>
                                      </p:to>
                                    </p:set>
                                    <p:animEffect filter="fade" transition="in">
                                      <p:cBhvr>
                                        <p:cTn dur="1000"/>
                                        <p:tgtEl>
                                          <p:spTgt spid="3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2" st="2"/>
                                            </p:txEl>
                                          </p:spTgt>
                                        </p:tgtEl>
                                        <p:attrNameLst>
                                          <p:attrName>style.visibility</p:attrName>
                                        </p:attrNameLst>
                                      </p:cBhvr>
                                      <p:to>
                                        <p:strVal val="visible"/>
                                      </p:to>
                                    </p:set>
                                    <p:animEffect filter="fade" transition="in">
                                      <p:cBhvr>
                                        <p:cTn dur="1000"/>
                                        <p:tgtEl>
                                          <p:spTgt spid="3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3" st="3"/>
                                            </p:txEl>
                                          </p:spTgt>
                                        </p:tgtEl>
                                        <p:attrNameLst>
                                          <p:attrName>style.visibility</p:attrName>
                                        </p:attrNameLst>
                                      </p:cBhvr>
                                      <p:to>
                                        <p:strVal val="visible"/>
                                      </p:to>
                                    </p:set>
                                    <p:animEffect filter="fade" transition="in">
                                      <p:cBhvr>
                                        <p:cTn dur="1000"/>
                                        <p:tgtEl>
                                          <p:spTgt spid="3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4" st="4"/>
                                            </p:txEl>
                                          </p:spTgt>
                                        </p:tgtEl>
                                        <p:attrNameLst>
                                          <p:attrName>style.visibility</p:attrName>
                                        </p:attrNameLst>
                                      </p:cBhvr>
                                      <p:to>
                                        <p:strVal val="visible"/>
                                      </p:to>
                                    </p:set>
                                    <p:animEffect filter="fade" transition="in">
                                      <p:cBhvr>
                                        <p:cTn dur="1000"/>
                                        <p:tgtEl>
                                          <p:spTgt spid="3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5" st="5"/>
                                            </p:txEl>
                                          </p:spTgt>
                                        </p:tgtEl>
                                        <p:attrNameLst>
                                          <p:attrName>style.visibility</p:attrName>
                                        </p:attrNameLst>
                                      </p:cBhvr>
                                      <p:to>
                                        <p:strVal val="visible"/>
                                      </p:to>
                                    </p:set>
                                    <p:animEffect filter="fade" transition="in">
                                      <p:cBhvr>
                                        <p:cTn dur="1000"/>
                                        <p:tgtEl>
                                          <p:spTgt spid="32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6" st="6"/>
                                            </p:txEl>
                                          </p:spTgt>
                                        </p:tgtEl>
                                        <p:attrNameLst>
                                          <p:attrName>style.visibility</p:attrName>
                                        </p:attrNameLst>
                                      </p:cBhvr>
                                      <p:to>
                                        <p:strVal val="visible"/>
                                      </p:to>
                                    </p:set>
                                    <p:animEffect filter="fade" transition="in">
                                      <p:cBhvr>
                                        <p:cTn dur="1000"/>
                                        <p:tgtEl>
                                          <p:spTgt spid="32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5"/>
          <p:cNvSpPr txBox="1"/>
          <p:nvPr>
            <p:ph type="title"/>
          </p:nvPr>
        </p:nvSpPr>
        <p:spPr>
          <a:xfrm>
            <a:off x="1084217" y="624109"/>
            <a:ext cx="10420395" cy="4849227"/>
          </a:xfrm>
          <a:prstGeom prst="rect">
            <a:avLst/>
          </a:prstGeom>
          <a:gradFill>
            <a:gsLst>
              <a:gs pos="0">
                <a:srgbClr val="809265"/>
              </a:gs>
              <a:gs pos="100000">
                <a:srgbClr val="697C4D"/>
              </a:gs>
            </a:gsLst>
            <a:lin ang="5400000" scaled="0"/>
          </a:gradFill>
          <a:ln>
            <a:noFill/>
          </a:ln>
          <a:effectLst>
            <a:outerShdw blurRad="50800" rotWithShape="0" dir="5400000" dist="38100">
              <a:srgbClr val="000000">
                <a:alpha val="60000"/>
              </a:srgbClr>
            </a:outerShdw>
          </a:effectLst>
        </p:spPr>
        <p:txBody>
          <a:bodyPr anchorCtr="0" anchor="t" bIns="45700" lIns="91425" spcFirstLastPara="1" rIns="91425" wrap="square" tIns="45700">
            <a:normAutofit/>
          </a:bodyPr>
          <a:lstStyle/>
          <a:p>
            <a:pPr indent="0" lvl="0" marL="0" rtl="0" algn="l">
              <a:spcBef>
                <a:spcPts val="0"/>
              </a:spcBef>
              <a:spcAft>
                <a:spcPts val="0"/>
              </a:spcAft>
              <a:buClr>
                <a:srgbClr val="FFFF00"/>
              </a:buClr>
              <a:buSzPts val="3600"/>
              <a:buFont typeface="Century Gothic"/>
              <a:buNone/>
            </a:pPr>
            <a:r>
              <a:rPr b="1" lang="fr-FR">
                <a:solidFill>
                  <a:srgbClr val="FFFF00"/>
                </a:solidFill>
                <a:latin typeface="Century Gothic"/>
                <a:ea typeface="Century Gothic"/>
                <a:cs typeface="Century Gothic"/>
                <a:sym typeface="Century Gothic"/>
              </a:rPr>
              <a:t>Gestion du stress:</a:t>
            </a:r>
            <a:endParaRPr/>
          </a:p>
        </p:txBody>
      </p:sp>
      <p:graphicFrame>
        <p:nvGraphicFramePr>
          <p:cNvPr id="328" name="Google Shape;328;p25"/>
          <p:cNvGraphicFramePr/>
          <p:nvPr/>
        </p:nvGraphicFramePr>
        <p:xfrm>
          <a:off x="5356225" y="3182938"/>
          <a:ext cx="1477963" cy="488950"/>
        </p:xfrm>
        <a:graphic>
          <a:graphicData uri="http://schemas.openxmlformats.org/presentationml/2006/ole">
            <mc:AlternateContent>
              <mc:Choice Requires="v">
                <p:oleObj r:id="rId4" imgH="488950" imgW="1477963" progId="Package" spid="_x0000_s1">
                  <p:embed/>
                </p:oleObj>
              </mc:Choice>
              <mc:Fallback>
                <p:oleObj r:id="rId5" imgH="488950" imgW="1477963" progId="Package">
                  <p:embed/>
                  <p:pic>
                    <p:nvPicPr>
                      <p:cNvPr id="328" name="Google Shape;328;p25"/>
                      <p:cNvPicPr preferRelativeResize="0"/>
                      <p:nvPr/>
                    </p:nvPicPr>
                    <p:blipFill rotWithShape="1">
                      <a:blip r:embed="rId6">
                        <a:alphaModFix/>
                      </a:blip>
                      <a:srcRect b="0" l="0" r="0" t="0"/>
                      <a:stretch/>
                    </p:blipFill>
                    <p:spPr>
                      <a:xfrm>
                        <a:off x="5356225" y="3182938"/>
                        <a:ext cx="1477963" cy="488950"/>
                      </a:xfrm>
                      <a:prstGeom prst="rect">
                        <a:avLst/>
                      </a:prstGeom>
                      <a:noFill/>
                      <a:ln>
                        <a:noFill/>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C00000"/>
              </a:buClr>
              <a:buSzPts val="4800"/>
              <a:buFont typeface="Century Gothic"/>
              <a:buNone/>
            </a:pPr>
            <a:r>
              <a:rPr lang="fr-FR" sz="4800">
                <a:solidFill>
                  <a:srgbClr val="C00000"/>
                </a:solidFill>
              </a:rPr>
              <a:t>conclusion</a:t>
            </a:r>
            <a:endParaRPr/>
          </a:p>
        </p:txBody>
      </p:sp>
      <p:sp>
        <p:nvSpPr>
          <p:cNvPr id="334" name="Google Shape;334;p26"/>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fr-FR"/>
              <a:t>Gérer son stress au travail, c’est apprendre à gérer les situations différemment; mais c’est d’abord apprendre à se gérer soi-même, à connaître ses ressources et à mieux utiliser ses capacités personnelles. Savoir gérer le stress au travail ou dans n’importe quel contexte professionnel et personnel ne dépend pas seulement des situations extérieures, mais repose sur notre façon de les percevoir et de les appréhender.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0" st="0"/>
                                            </p:txEl>
                                          </p:spTgt>
                                        </p:tgtEl>
                                        <p:attrNameLst>
                                          <p:attrName>style.visibility</p:attrName>
                                        </p:attrNameLst>
                                      </p:cBhvr>
                                      <p:to>
                                        <p:strVal val="visible"/>
                                      </p:to>
                                    </p:set>
                                    <p:animEffect filter="fade" transition="in">
                                      <p:cBhvr>
                                        <p:cTn dur="1000"/>
                                        <p:tgtEl>
                                          <p:spTgt spid="33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27"/>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340" name="Google Shape;340;p27"/>
          <p:cNvSpPr/>
          <p:nvPr/>
        </p:nvSpPr>
        <p:spPr>
          <a:xfrm>
            <a:off x="0" y="6244046"/>
            <a:ext cx="12192000" cy="584775"/>
          </a:xfrm>
          <a:prstGeom prst="rect">
            <a:avLst/>
          </a:prstGeom>
          <a:solidFill>
            <a:srgbClr val="EABAA0"/>
          </a:solidFill>
          <a:ln cap="rnd" cmpd="sng" w="9525">
            <a:solidFill>
              <a:srgbClr val="D3781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chemeClr val="dk1"/>
                </a:solidFill>
                <a:latin typeface="Century Gothic"/>
                <a:ea typeface="Century Gothic"/>
                <a:cs typeface="Century Gothic"/>
                <a:sym typeface="Century Gothic"/>
              </a:rPr>
              <a:t>                                                          </a:t>
            </a:r>
            <a:r>
              <a:rPr b="1" lang="fr-FR" sz="3200">
                <a:solidFill>
                  <a:srgbClr val="236147"/>
                </a:solidFill>
                <a:latin typeface="Century Gothic"/>
                <a:ea typeface="Century Gothic"/>
                <a:cs typeface="Century Gothic"/>
                <a:sym typeface="Century Gothic"/>
              </a:rPr>
              <a:t>Merci de votre attention</a:t>
            </a:r>
            <a:endParaRPr sz="3200">
              <a:solidFill>
                <a:schemeClr val="dk1"/>
              </a:solidFill>
              <a:latin typeface="Century Gothic"/>
              <a:ea typeface="Century Gothic"/>
              <a:cs typeface="Century Gothic"/>
              <a:sym typeface="Century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9"/>
                                        </p:tgtEl>
                                        <p:attrNameLst>
                                          <p:attrName>style.visibility</p:attrName>
                                        </p:attrNameLst>
                                      </p:cBhvr>
                                      <p:to>
                                        <p:strVal val="visible"/>
                                      </p:to>
                                    </p:set>
                                    <p:anim calcmode="lin" valueType="num">
                                      <p:cBhvr additive="base">
                                        <p:cTn dur="500"/>
                                        <p:tgtEl>
                                          <p:spTgt spid="339"/>
                                        </p:tgtEl>
                                        <p:attrNameLst>
                                          <p:attrName>ppt_w</p:attrName>
                                        </p:attrNameLst>
                                      </p:cBhvr>
                                      <p:tavLst>
                                        <p:tav fmla="" tm="0">
                                          <p:val>
                                            <p:strVal val="0"/>
                                          </p:val>
                                        </p:tav>
                                        <p:tav fmla="" tm="100000">
                                          <p:val>
                                            <p:strVal val="#ppt_w"/>
                                          </p:val>
                                        </p:tav>
                                      </p:tavLst>
                                    </p:anim>
                                    <p:anim calcmode="lin" valueType="num">
                                      <p:cBhvr additive="base">
                                        <p:cTn dur="500"/>
                                        <p:tgtEl>
                                          <p:spTgt spid="33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Brin">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2017-12-07T13:25:38Z</dcterms:created>
  <dc:creator>HP-PC</dc:creator>
</cp:coreProperties>
</file>